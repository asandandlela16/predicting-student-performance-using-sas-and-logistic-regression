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custShowLst>
    <p:custShow name="Custom Show 1" id="0">
      <p:sldLst>
        <p:sld r:id="rId2"/>
        <p:sld r:id="rId3"/>
        <p:sld r:id="rId4"/>
        <p:sld r:id="rId5"/>
        <p:sld r:id="rId6"/>
        <p:sld r:id="rId7"/>
        <p:sld r:id="rId8"/>
        <p:sld r:id="rId9"/>
        <p:sld r:id="rId10"/>
        <p:sld r:id="rId11"/>
        <p:sld r:id="rId12"/>
        <p:sld r:id="rId13"/>
        <p:sld r:id="rId14"/>
        <p:sld r:id="rId15"/>
        <p:sld r:id="rId16"/>
        <p:sld r:id="rId17"/>
        <p:sld r:id="rId18"/>
        <p:sld r:id="rId19"/>
        <p:sld r:id="rId20"/>
        <p:sld r:id="rId21"/>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EBE87D-95A6-4C73-8D46-4FEF023A55EF}" v="79" dt="2025-10-27T10:07: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nda Ndlela (222065405)" userId="2d17e713-63cf-4693-bcad-ffa89651c8ee" providerId="ADAL" clId="{A27E13A2-0CAC-47A2-B7CD-9BE588BE7E8B}"/>
    <pc:docChg chg="undo custSel addSld delSld modSld modShowInfo">
      <pc:chgData name="Asanda Ndlela (222065405)" userId="2d17e713-63cf-4693-bcad-ffa89651c8ee" providerId="ADAL" clId="{A27E13A2-0CAC-47A2-B7CD-9BE588BE7E8B}" dt="2025-11-16T11:21:15.038" v="6697" actId="1076"/>
      <pc:docMkLst>
        <pc:docMk/>
      </pc:docMkLst>
      <pc:sldChg chg="modSp mod">
        <pc:chgData name="Asanda Ndlela (222065405)" userId="2d17e713-63cf-4693-bcad-ffa89651c8ee" providerId="ADAL" clId="{A27E13A2-0CAC-47A2-B7CD-9BE588BE7E8B}" dt="2025-11-16T11:21:15.038" v="6697" actId="1076"/>
        <pc:sldMkLst>
          <pc:docMk/>
          <pc:sldMk cId="526624096" sldId="256"/>
        </pc:sldMkLst>
        <pc:spChg chg="mod">
          <ac:chgData name="Asanda Ndlela (222065405)" userId="2d17e713-63cf-4693-bcad-ffa89651c8ee" providerId="ADAL" clId="{A27E13A2-0CAC-47A2-B7CD-9BE588BE7E8B}" dt="2025-11-16T11:21:15.038" v="6697" actId="1076"/>
          <ac:spMkLst>
            <pc:docMk/>
            <pc:sldMk cId="526624096" sldId="256"/>
            <ac:spMk id="10" creationId="{FEE5BCE9-D635-ECD2-64FF-F3E0068258FA}"/>
          </ac:spMkLst>
        </pc:spChg>
      </pc:sldChg>
      <pc:sldChg chg="addSp delSp modSp mod">
        <pc:chgData name="Asanda Ndlela (222065405)" userId="2d17e713-63cf-4693-bcad-ffa89651c8ee" providerId="ADAL" clId="{A27E13A2-0CAC-47A2-B7CD-9BE588BE7E8B}" dt="2025-10-25T08:28:11.966" v="170" actId="14100"/>
        <pc:sldMkLst>
          <pc:docMk/>
          <pc:sldMk cId="1067748545" sldId="258"/>
        </pc:sldMkLst>
        <pc:spChg chg="mod">
          <ac:chgData name="Asanda Ndlela (222065405)" userId="2d17e713-63cf-4693-bcad-ffa89651c8ee" providerId="ADAL" clId="{A27E13A2-0CAC-47A2-B7CD-9BE588BE7E8B}" dt="2025-10-25T08:24:39.291" v="156" actId="27636"/>
          <ac:spMkLst>
            <pc:docMk/>
            <pc:sldMk cId="1067748545" sldId="258"/>
            <ac:spMk id="5" creationId="{8723ED94-73AF-9AEC-72FB-BE239BF12572}"/>
          </ac:spMkLst>
        </pc:spChg>
        <pc:graphicFrameChg chg="mod modGraphic">
          <ac:chgData name="Asanda Ndlela (222065405)" userId="2d17e713-63cf-4693-bcad-ffa89651c8ee" providerId="ADAL" clId="{A27E13A2-0CAC-47A2-B7CD-9BE588BE7E8B}" dt="2025-10-25T08:28:11.966" v="170" actId="14100"/>
          <ac:graphicFrameMkLst>
            <pc:docMk/>
            <pc:sldMk cId="1067748545" sldId="258"/>
            <ac:graphicFrameMk id="4" creationId="{633DAF6F-6833-1033-1B3F-F66D7AE15EEC}"/>
          </ac:graphicFrameMkLst>
        </pc:graphicFrameChg>
        <pc:picChg chg="add mod">
          <ac:chgData name="Asanda Ndlela (222065405)" userId="2d17e713-63cf-4693-bcad-ffa89651c8ee" providerId="ADAL" clId="{A27E13A2-0CAC-47A2-B7CD-9BE588BE7E8B}" dt="2025-10-25T08:25:00.669" v="161" actId="14100"/>
          <ac:picMkLst>
            <pc:docMk/>
            <pc:sldMk cId="1067748545" sldId="258"/>
            <ac:picMk id="9" creationId="{1F37226E-2D3A-2B11-566C-4845430F1DC0}"/>
          </ac:picMkLst>
        </pc:picChg>
        <pc:picChg chg="add mod">
          <ac:chgData name="Asanda Ndlela (222065405)" userId="2d17e713-63cf-4693-bcad-ffa89651c8ee" providerId="ADAL" clId="{A27E13A2-0CAC-47A2-B7CD-9BE588BE7E8B}" dt="2025-10-25T08:28:00.239" v="168" actId="962"/>
          <ac:picMkLst>
            <pc:docMk/>
            <pc:sldMk cId="1067748545" sldId="258"/>
            <ac:picMk id="13" creationId="{5D827049-BD4B-7C19-B94F-3D20EA91466E}"/>
          </ac:picMkLst>
        </pc:picChg>
      </pc:sldChg>
      <pc:sldChg chg="addSp modSp new mod">
        <pc:chgData name="Asanda Ndlela (222065405)" userId="2d17e713-63cf-4693-bcad-ffa89651c8ee" providerId="ADAL" clId="{A27E13A2-0CAC-47A2-B7CD-9BE588BE7E8B}" dt="2025-10-25T09:07:36.675" v="357" actId="14100"/>
        <pc:sldMkLst>
          <pc:docMk/>
          <pc:sldMk cId="2593054888" sldId="259"/>
        </pc:sldMkLst>
        <pc:spChg chg="mod">
          <ac:chgData name="Asanda Ndlela (222065405)" userId="2d17e713-63cf-4693-bcad-ffa89651c8ee" providerId="ADAL" clId="{A27E13A2-0CAC-47A2-B7CD-9BE588BE7E8B}" dt="2025-10-25T08:45:19.289" v="230" actId="20577"/>
          <ac:spMkLst>
            <pc:docMk/>
            <pc:sldMk cId="2593054888" sldId="259"/>
            <ac:spMk id="2" creationId="{D12CFB9A-3C62-90E0-632E-033F2FB7332A}"/>
          </ac:spMkLst>
        </pc:spChg>
        <pc:spChg chg="mod">
          <ac:chgData name="Asanda Ndlela (222065405)" userId="2d17e713-63cf-4693-bcad-ffa89651c8ee" providerId="ADAL" clId="{A27E13A2-0CAC-47A2-B7CD-9BE588BE7E8B}" dt="2025-10-25T09:07:36.675" v="357" actId="14100"/>
          <ac:spMkLst>
            <pc:docMk/>
            <pc:sldMk cId="2593054888" sldId="259"/>
            <ac:spMk id="3" creationId="{702D7060-76F1-27E2-941F-DF94F918BEFF}"/>
          </ac:spMkLst>
        </pc:spChg>
        <pc:picChg chg="add mod">
          <ac:chgData name="Asanda Ndlela (222065405)" userId="2d17e713-63cf-4693-bcad-ffa89651c8ee" providerId="ADAL" clId="{A27E13A2-0CAC-47A2-B7CD-9BE588BE7E8B}" dt="2025-10-25T08:53:59.477" v="238" actId="14100"/>
          <ac:picMkLst>
            <pc:docMk/>
            <pc:sldMk cId="2593054888" sldId="259"/>
            <ac:picMk id="5" creationId="{46E0627A-FE59-831D-09EF-55356A6DC75B}"/>
          </ac:picMkLst>
        </pc:picChg>
        <pc:picChg chg="add mod">
          <ac:chgData name="Asanda Ndlela (222065405)" userId="2d17e713-63cf-4693-bcad-ffa89651c8ee" providerId="ADAL" clId="{A27E13A2-0CAC-47A2-B7CD-9BE588BE7E8B}" dt="2025-10-25T08:55:54.794" v="281" actId="1076"/>
          <ac:picMkLst>
            <pc:docMk/>
            <pc:sldMk cId="2593054888" sldId="259"/>
            <ac:picMk id="7" creationId="{31D87B29-149F-28F4-7897-A4CFC94E54BF}"/>
          </ac:picMkLst>
        </pc:picChg>
        <pc:picChg chg="add mod">
          <ac:chgData name="Asanda Ndlela (222065405)" userId="2d17e713-63cf-4693-bcad-ffa89651c8ee" providerId="ADAL" clId="{A27E13A2-0CAC-47A2-B7CD-9BE588BE7E8B}" dt="2025-10-25T08:55:58.079" v="282" actId="1076"/>
          <ac:picMkLst>
            <pc:docMk/>
            <pc:sldMk cId="2593054888" sldId="259"/>
            <ac:picMk id="9" creationId="{20444876-1998-167A-3BD5-5247140FF5BE}"/>
          </ac:picMkLst>
        </pc:picChg>
        <pc:picChg chg="add mod">
          <ac:chgData name="Asanda Ndlela (222065405)" userId="2d17e713-63cf-4693-bcad-ffa89651c8ee" providerId="ADAL" clId="{A27E13A2-0CAC-47A2-B7CD-9BE588BE7E8B}" dt="2025-10-25T08:56:26.405" v="286" actId="962"/>
          <ac:picMkLst>
            <pc:docMk/>
            <pc:sldMk cId="2593054888" sldId="259"/>
            <ac:picMk id="11" creationId="{955AF777-8127-4779-6C6D-B94EFC9D1A87}"/>
          </ac:picMkLst>
        </pc:picChg>
      </pc:sldChg>
      <pc:sldChg chg="addSp delSp modSp new mod">
        <pc:chgData name="Asanda Ndlela (222065405)" userId="2d17e713-63cf-4693-bcad-ffa89651c8ee" providerId="ADAL" clId="{A27E13A2-0CAC-47A2-B7CD-9BE588BE7E8B}" dt="2025-10-25T09:02:01.095" v="308" actId="114"/>
        <pc:sldMkLst>
          <pc:docMk/>
          <pc:sldMk cId="3180292569" sldId="260"/>
        </pc:sldMkLst>
        <pc:spChg chg="mod">
          <ac:chgData name="Asanda Ndlela (222065405)" userId="2d17e713-63cf-4693-bcad-ffa89651c8ee" providerId="ADAL" clId="{A27E13A2-0CAC-47A2-B7CD-9BE588BE7E8B}" dt="2025-10-25T09:00:56.526" v="298" actId="27636"/>
          <ac:spMkLst>
            <pc:docMk/>
            <pc:sldMk cId="3180292569" sldId="260"/>
            <ac:spMk id="2" creationId="{55FEFFB8-4472-C604-CB1A-A827D293D24F}"/>
          </ac:spMkLst>
        </pc:spChg>
        <pc:spChg chg="add mod">
          <ac:chgData name="Asanda Ndlela (222065405)" userId="2d17e713-63cf-4693-bcad-ffa89651c8ee" providerId="ADAL" clId="{A27E13A2-0CAC-47A2-B7CD-9BE588BE7E8B}" dt="2025-10-25T09:02:01.095" v="308" actId="114"/>
          <ac:spMkLst>
            <pc:docMk/>
            <pc:sldMk cId="3180292569" sldId="260"/>
            <ac:spMk id="6" creationId="{8CF1354F-A35A-E1DB-30E9-86CE0F5268C6}"/>
          </ac:spMkLst>
        </pc:spChg>
        <pc:picChg chg="add mod">
          <ac:chgData name="Asanda Ndlela (222065405)" userId="2d17e713-63cf-4693-bcad-ffa89651c8ee" providerId="ADAL" clId="{A27E13A2-0CAC-47A2-B7CD-9BE588BE7E8B}" dt="2025-10-25T09:01:05.175" v="301" actId="962"/>
          <ac:picMkLst>
            <pc:docMk/>
            <pc:sldMk cId="3180292569" sldId="260"/>
            <ac:picMk id="5" creationId="{824BEFE9-B40B-AECE-6F11-6BE934649438}"/>
          </ac:picMkLst>
        </pc:picChg>
      </pc:sldChg>
      <pc:sldChg chg="addSp delSp modSp new mod">
        <pc:chgData name="Asanda Ndlela (222065405)" userId="2d17e713-63cf-4693-bcad-ffa89651c8ee" providerId="ADAL" clId="{A27E13A2-0CAC-47A2-B7CD-9BE588BE7E8B}" dt="2025-10-25T09:20:26.716" v="538" actId="1076"/>
        <pc:sldMkLst>
          <pc:docMk/>
          <pc:sldMk cId="2066799149" sldId="261"/>
        </pc:sldMkLst>
        <pc:spChg chg="mod">
          <ac:chgData name="Asanda Ndlela (222065405)" userId="2d17e713-63cf-4693-bcad-ffa89651c8ee" providerId="ADAL" clId="{A27E13A2-0CAC-47A2-B7CD-9BE588BE7E8B}" dt="2025-10-25T09:16:37.439" v="519" actId="1076"/>
          <ac:spMkLst>
            <pc:docMk/>
            <pc:sldMk cId="2066799149" sldId="261"/>
            <ac:spMk id="2" creationId="{8978174B-0A0C-7747-2A08-E348DD3478B9}"/>
          </ac:spMkLst>
        </pc:spChg>
        <pc:spChg chg="mod">
          <ac:chgData name="Asanda Ndlela (222065405)" userId="2d17e713-63cf-4693-bcad-ffa89651c8ee" providerId="ADAL" clId="{A27E13A2-0CAC-47A2-B7CD-9BE588BE7E8B}" dt="2025-10-25T09:13:32.616" v="505" actId="20577"/>
          <ac:spMkLst>
            <pc:docMk/>
            <pc:sldMk cId="2066799149" sldId="261"/>
            <ac:spMk id="3" creationId="{A9238869-CD1E-924D-703A-234D3651473A}"/>
          </ac:spMkLst>
        </pc:spChg>
        <pc:picChg chg="add mod">
          <ac:chgData name="Asanda Ndlela (222065405)" userId="2d17e713-63cf-4693-bcad-ffa89651c8ee" providerId="ADAL" clId="{A27E13A2-0CAC-47A2-B7CD-9BE588BE7E8B}" dt="2025-10-25T09:20:26.716" v="538" actId="1076"/>
          <ac:picMkLst>
            <pc:docMk/>
            <pc:sldMk cId="2066799149" sldId="261"/>
            <ac:picMk id="8" creationId="{ECF3C7CB-7C7F-B202-039E-B62FB202FB70}"/>
          </ac:picMkLst>
        </pc:picChg>
      </pc:sldChg>
      <pc:sldChg chg="new del">
        <pc:chgData name="Asanda Ndlela (222065405)" userId="2d17e713-63cf-4693-bcad-ffa89651c8ee" providerId="ADAL" clId="{A27E13A2-0CAC-47A2-B7CD-9BE588BE7E8B}" dt="2025-10-25T09:16:28.065" v="518" actId="2696"/>
        <pc:sldMkLst>
          <pc:docMk/>
          <pc:sldMk cId="746348462" sldId="262"/>
        </pc:sldMkLst>
      </pc:sldChg>
      <pc:sldChg chg="addSp delSp modSp new mod setBg">
        <pc:chgData name="Asanda Ndlela (222065405)" userId="2d17e713-63cf-4693-bcad-ffa89651c8ee" providerId="ADAL" clId="{A27E13A2-0CAC-47A2-B7CD-9BE588BE7E8B}" dt="2025-10-25T09:41:51.241" v="1200" actId="20577"/>
        <pc:sldMkLst>
          <pc:docMk/>
          <pc:sldMk cId="798946304" sldId="262"/>
        </pc:sldMkLst>
        <pc:spChg chg="add mod ord">
          <ac:chgData name="Asanda Ndlela (222065405)" userId="2d17e713-63cf-4693-bcad-ffa89651c8ee" providerId="ADAL" clId="{A27E13A2-0CAC-47A2-B7CD-9BE588BE7E8B}" dt="2025-10-25T09:41:51.241" v="1200" actId="20577"/>
          <ac:spMkLst>
            <pc:docMk/>
            <pc:sldMk cId="798946304" sldId="262"/>
            <ac:spMk id="2" creationId="{BC44E6AA-62C0-427D-AFD8-3CD8BCEDBF2F}"/>
          </ac:spMkLst>
        </pc:spChg>
        <pc:spChg chg="add">
          <ac:chgData name="Asanda Ndlela (222065405)" userId="2d17e713-63cf-4693-bcad-ffa89651c8ee" providerId="ADAL" clId="{A27E13A2-0CAC-47A2-B7CD-9BE588BE7E8B}" dt="2025-10-25T09:28:10.334" v="659" actId="26606"/>
          <ac:spMkLst>
            <pc:docMk/>
            <pc:sldMk cId="798946304" sldId="262"/>
            <ac:spMk id="11" creationId="{774A975B-A886-5202-0489-6965514A0D14}"/>
          </ac:spMkLst>
        </pc:spChg>
        <pc:spChg chg="add">
          <ac:chgData name="Asanda Ndlela (222065405)" userId="2d17e713-63cf-4693-bcad-ffa89651c8ee" providerId="ADAL" clId="{A27E13A2-0CAC-47A2-B7CD-9BE588BE7E8B}" dt="2025-10-25T09:28:10.334" v="659" actId="26606"/>
          <ac:spMkLst>
            <pc:docMk/>
            <pc:sldMk cId="798946304" sldId="262"/>
            <ac:spMk id="13" creationId="{2CD0D193-B981-FE7D-7D46-D739C7E5B5FB}"/>
          </ac:spMkLst>
        </pc:spChg>
        <pc:spChg chg="add">
          <ac:chgData name="Asanda Ndlela (222065405)" userId="2d17e713-63cf-4693-bcad-ffa89651c8ee" providerId="ADAL" clId="{A27E13A2-0CAC-47A2-B7CD-9BE588BE7E8B}" dt="2025-10-25T09:28:10.334" v="659" actId="26606"/>
          <ac:spMkLst>
            <pc:docMk/>
            <pc:sldMk cId="798946304" sldId="262"/>
            <ac:spMk id="15" creationId="{14435763-D116-E6B0-3992-6801EF0F0FF2}"/>
          </ac:spMkLst>
        </pc:spChg>
        <pc:picChg chg="add mod">
          <ac:chgData name="Asanda Ndlela (222065405)" userId="2d17e713-63cf-4693-bcad-ffa89651c8ee" providerId="ADAL" clId="{A27E13A2-0CAC-47A2-B7CD-9BE588BE7E8B}" dt="2025-10-25T09:34:47.013" v="964" actId="14100"/>
          <ac:picMkLst>
            <pc:docMk/>
            <pc:sldMk cId="798946304" sldId="262"/>
            <ac:picMk id="8" creationId="{C2367457-174E-D318-71BD-8ADCD64590A7}"/>
          </ac:picMkLst>
        </pc:picChg>
        <pc:picChg chg="add mod">
          <ac:chgData name="Asanda Ndlela (222065405)" userId="2d17e713-63cf-4693-bcad-ffa89651c8ee" providerId="ADAL" clId="{A27E13A2-0CAC-47A2-B7CD-9BE588BE7E8B}" dt="2025-10-25T09:34:43.934" v="963" actId="1076"/>
          <ac:picMkLst>
            <pc:docMk/>
            <pc:sldMk cId="798946304" sldId="262"/>
            <ac:picMk id="10" creationId="{9444B13A-E0C0-C266-E065-C6A8819B6C07}"/>
          </ac:picMkLst>
        </pc:picChg>
      </pc:sldChg>
      <pc:sldChg chg="addSp modSp new mod">
        <pc:chgData name="Asanda Ndlela (222065405)" userId="2d17e713-63cf-4693-bcad-ffa89651c8ee" providerId="ADAL" clId="{A27E13A2-0CAC-47A2-B7CD-9BE588BE7E8B}" dt="2025-10-25T09:46:22.985" v="1328" actId="14100"/>
        <pc:sldMkLst>
          <pc:docMk/>
          <pc:sldMk cId="2971548076" sldId="263"/>
        </pc:sldMkLst>
        <pc:spChg chg="add mod">
          <ac:chgData name="Asanda Ndlela (222065405)" userId="2d17e713-63cf-4693-bcad-ffa89651c8ee" providerId="ADAL" clId="{A27E13A2-0CAC-47A2-B7CD-9BE588BE7E8B}" dt="2025-10-25T09:43:06.188" v="1313" actId="20577"/>
          <ac:spMkLst>
            <pc:docMk/>
            <pc:sldMk cId="2971548076" sldId="263"/>
            <ac:spMk id="2" creationId="{EED67B2F-ABC8-4461-3FF9-2F1FE5FC270A}"/>
          </ac:spMkLst>
        </pc:spChg>
        <pc:picChg chg="add mod">
          <ac:chgData name="Asanda Ndlela (222065405)" userId="2d17e713-63cf-4693-bcad-ffa89651c8ee" providerId="ADAL" clId="{A27E13A2-0CAC-47A2-B7CD-9BE588BE7E8B}" dt="2025-10-25T09:46:22.985" v="1328" actId="14100"/>
          <ac:picMkLst>
            <pc:docMk/>
            <pc:sldMk cId="2971548076" sldId="263"/>
            <ac:picMk id="4" creationId="{0B94571B-84F0-162E-071E-7477BD910E4C}"/>
          </ac:picMkLst>
        </pc:picChg>
        <pc:picChg chg="add mod">
          <ac:chgData name="Asanda Ndlela (222065405)" userId="2d17e713-63cf-4693-bcad-ffa89651c8ee" providerId="ADAL" clId="{A27E13A2-0CAC-47A2-B7CD-9BE588BE7E8B}" dt="2025-10-25T09:46:17.724" v="1326" actId="1076"/>
          <ac:picMkLst>
            <pc:docMk/>
            <pc:sldMk cId="2971548076" sldId="263"/>
            <ac:picMk id="6" creationId="{6FC4167F-F7EB-5372-B6BF-1091813CED76}"/>
          </ac:picMkLst>
        </pc:picChg>
      </pc:sldChg>
      <pc:sldChg chg="addSp modSp new mod">
        <pc:chgData name="Asanda Ndlela (222065405)" userId="2d17e713-63cf-4693-bcad-ffa89651c8ee" providerId="ADAL" clId="{A27E13A2-0CAC-47A2-B7CD-9BE588BE7E8B}" dt="2025-10-25T09:54:59.206" v="1601" actId="20577"/>
        <pc:sldMkLst>
          <pc:docMk/>
          <pc:sldMk cId="4120290251" sldId="264"/>
        </pc:sldMkLst>
        <pc:spChg chg="add mod">
          <ac:chgData name="Asanda Ndlela (222065405)" userId="2d17e713-63cf-4693-bcad-ffa89651c8ee" providerId="ADAL" clId="{A27E13A2-0CAC-47A2-B7CD-9BE588BE7E8B}" dt="2025-10-25T09:54:59.206" v="1601" actId="20577"/>
          <ac:spMkLst>
            <pc:docMk/>
            <pc:sldMk cId="4120290251" sldId="264"/>
            <ac:spMk id="2" creationId="{3C130174-32BD-63F1-7C5C-EB3DF79B2F62}"/>
          </ac:spMkLst>
        </pc:spChg>
        <pc:picChg chg="add mod">
          <ac:chgData name="Asanda Ndlela (222065405)" userId="2d17e713-63cf-4693-bcad-ffa89651c8ee" providerId="ADAL" clId="{A27E13A2-0CAC-47A2-B7CD-9BE588BE7E8B}" dt="2025-10-25T09:53:43.353" v="1470" actId="14100"/>
          <ac:picMkLst>
            <pc:docMk/>
            <pc:sldMk cId="4120290251" sldId="264"/>
            <ac:picMk id="4" creationId="{37C1B099-13F4-1E16-71ED-C55A0B396BBA}"/>
          </ac:picMkLst>
        </pc:picChg>
      </pc:sldChg>
      <pc:sldChg chg="addSp delSp modSp new mod">
        <pc:chgData name="Asanda Ndlela (222065405)" userId="2d17e713-63cf-4693-bcad-ffa89651c8ee" providerId="ADAL" clId="{A27E13A2-0CAC-47A2-B7CD-9BE588BE7E8B}" dt="2025-10-25T10:05:16.342" v="1968" actId="20577"/>
        <pc:sldMkLst>
          <pc:docMk/>
          <pc:sldMk cId="2871050639" sldId="265"/>
        </pc:sldMkLst>
        <pc:spChg chg="mod">
          <ac:chgData name="Asanda Ndlela (222065405)" userId="2d17e713-63cf-4693-bcad-ffa89651c8ee" providerId="ADAL" clId="{A27E13A2-0CAC-47A2-B7CD-9BE588BE7E8B}" dt="2025-10-25T10:04:04.934" v="1934" actId="27636"/>
          <ac:spMkLst>
            <pc:docMk/>
            <pc:sldMk cId="2871050639" sldId="265"/>
            <ac:spMk id="2" creationId="{F5E98BAD-44B8-735D-28CA-33875C879C7D}"/>
          </ac:spMkLst>
        </pc:spChg>
        <pc:spChg chg="add mod">
          <ac:chgData name="Asanda Ndlela (222065405)" userId="2d17e713-63cf-4693-bcad-ffa89651c8ee" providerId="ADAL" clId="{A27E13A2-0CAC-47A2-B7CD-9BE588BE7E8B}" dt="2025-10-25T10:05:16.342" v="1968" actId="20577"/>
          <ac:spMkLst>
            <pc:docMk/>
            <pc:sldMk cId="2871050639" sldId="265"/>
            <ac:spMk id="7" creationId="{D00A28CC-7DA0-6707-868F-9970DFE39949}"/>
          </ac:spMkLst>
        </pc:spChg>
        <pc:picChg chg="add mod">
          <ac:chgData name="Asanda Ndlela (222065405)" userId="2d17e713-63cf-4693-bcad-ffa89651c8ee" providerId="ADAL" clId="{A27E13A2-0CAC-47A2-B7CD-9BE588BE7E8B}" dt="2025-10-25T10:04:20.467" v="1936" actId="14100"/>
          <ac:picMkLst>
            <pc:docMk/>
            <pc:sldMk cId="2871050639" sldId="265"/>
            <ac:picMk id="5" creationId="{C288E257-7AB6-AE65-25B3-CCDED4D56779}"/>
          </ac:picMkLst>
        </pc:picChg>
      </pc:sldChg>
      <pc:sldChg chg="addSp modSp new mod">
        <pc:chgData name="Asanda Ndlela (222065405)" userId="2d17e713-63cf-4693-bcad-ffa89651c8ee" providerId="ADAL" clId="{A27E13A2-0CAC-47A2-B7CD-9BE588BE7E8B}" dt="2025-10-25T10:18:54.954" v="2509" actId="113"/>
        <pc:sldMkLst>
          <pc:docMk/>
          <pc:sldMk cId="4222286457" sldId="266"/>
        </pc:sldMkLst>
        <pc:spChg chg="mod">
          <ac:chgData name="Asanda Ndlela (222065405)" userId="2d17e713-63cf-4693-bcad-ffa89651c8ee" providerId="ADAL" clId="{A27E13A2-0CAC-47A2-B7CD-9BE588BE7E8B}" dt="2025-10-25T10:10:33.781" v="1999" actId="27636"/>
          <ac:spMkLst>
            <pc:docMk/>
            <pc:sldMk cId="4222286457" sldId="266"/>
            <ac:spMk id="2" creationId="{EB6D015D-6FD1-5B34-198C-621F0407699C}"/>
          </ac:spMkLst>
        </pc:spChg>
        <pc:spChg chg="mod">
          <ac:chgData name="Asanda Ndlela (222065405)" userId="2d17e713-63cf-4693-bcad-ffa89651c8ee" providerId="ADAL" clId="{A27E13A2-0CAC-47A2-B7CD-9BE588BE7E8B}" dt="2025-10-25T10:18:54.954" v="2509" actId="113"/>
          <ac:spMkLst>
            <pc:docMk/>
            <pc:sldMk cId="4222286457" sldId="266"/>
            <ac:spMk id="3" creationId="{ED19A389-AED3-186F-DFFD-3B887CC2C915}"/>
          </ac:spMkLst>
        </pc:spChg>
        <pc:picChg chg="add mod">
          <ac:chgData name="Asanda Ndlela (222065405)" userId="2d17e713-63cf-4693-bcad-ffa89651c8ee" providerId="ADAL" clId="{A27E13A2-0CAC-47A2-B7CD-9BE588BE7E8B}" dt="2025-10-25T10:17:50.709" v="2501" actId="14100"/>
          <ac:picMkLst>
            <pc:docMk/>
            <pc:sldMk cId="4222286457" sldId="266"/>
            <ac:picMk id="5" creationId="{6C37176A-9EFA-71A4-9D56-436C91B1D55D}"/>
          </ac:picMkLst>
        </pc:picChg>
        <pc:picChg chg="add mod">
          <ac:chgData name="Asanda Ndlela (222065405)" userId="2d17e713-63cf-4693-bcad-ffa89651c8ee" providerId="ADAL" clId="{A27E13A2-0CAC-47A2-B7CD-9BE588BE7E8B}" dt="2025-10-25T10:18:20.634" v="2508" actId="14100"/>
          <ac:picMkLst>
            <pc:docMk/>
            <pc:sldMk cId="4222286457" sldId="266"/>
            <ac:picMk id="7" creationId="{FA17D0B0-0A8E-CAFA-02E7-513EE4A0C684}"/>
          </ac:picMkLst>
        </pc:picChg>
      </pc:sldChg>
      <pc:sldChg chg="addSp delSp modSp new mod">
        <pc:chgData name="Asanda Ndlela (222065405)" userId="2d17e713-63cf-4693-bcad-ffa89651c8ee" providerId="ADAL" clId="{A27E13A2-0CAC-47A2-B7CD-9BE588BE7E8B}" dt="2025-10-25T12:07:39.183" v="3370" actId="21"/>
        <pc:sldMkLst>
          <pc:docMk/>
          <pc:sldMk cId="3806556683" sldId="267"/>
        </pc:sldMkLst>
        <pc:spChg chg="mod">
          <ac:chgData name="Asanda Ndlela (222065405)" userId="2d17e713-63cf-4693-bcad-ffa89651c8ee" providerId="ADAL" clId="{A27E13A2-0CAC-47A2-B7CD-9BE588BE7E8B}" dt="2025-10-25T12:04:44.931" v="3157" actId="14100"/>
          <ac:spMkLst>
            <pc:docMk/>
            <pc:sldMk cId="3806556683" sldId="267"/>
            <ac:spMk id="2" creationId="{A5F0A330-2977-0D49-56D2-E2DB8FFC931A}"/>
          </ac:spMkLst>
        </pc:spChg>
        <pc:spChg chg="mod">
          <ac:chgData name="Asanda Ndlela (222065405)" userId="2d17e713-63cf-4693-bcad-ffa89651c8ee" providerId="ADAL" clId="{A27E13A2-0CAC-47A2-B7CD-9BE588BE7E8B}" dt="2025-10-25T12:06:57.321" v="3369" actId="20577"/>
          <ac:spMkLst>
            <pc:docMk/>
            <pc:sldMk cId="3806556683" sldId="267"/>
            <ac:spMk id="3" creationId="{B8B7AB6F-68F3-6642-87CD-918A22EB7DA1}"/>
          </ac:spMkLst>
        </pc:spChg>
        <pc:picChg chg="add mod">
          <ac:chgData name="Asanda Ndlela (222065405)" userId="2d17e713-63cf-4693-bcad-ffa89651c8ee" providerId="ADAL" clId="{A27E13A2-0CAC-47A2-B7CD-9BE588BE7E8B}" dt="2025-10-25T12:05:03.167" v="3159" actId="1076"/>
          <ac:picMkLst>
            <pc:docMk/>
            <pc:sldMk cId="3806556683" sldId="267"/>
            <ac:picMk id="5" creationId="{A25C93C2-DAE4-2797-624F-B9AF84C0FBB6}"/>
          </ac:picMkLst>
        </pc:picChg>
        <pc:picChg chg="add mod">
          <ac:chgData name="Asanda Ndlela (222065405)" userId="2d17e713-63cf-4693-bcad-ffa89651c8ee" providerId="ADAL" clId="{A27E13A2-0CAC-47A2-B7CD-9BE588BE7E8B}" dt="2025-10-25T12:05:06.175" v="3160" actId="1076"/>
          <ac:picMkLst>
            <pc:docMk/>
            <pc:sldMk cId="3806556683" sldId="267"/>
            <ac:picMk id="7" creationId="{D5D3DCAC-84EB-B652-D631-76978335C708}"/>
          </ac:picMkLst>
        </pc:picChg>
      </pc:sldChg>
      <pc:sldChg chg="addSp delSp modSp new mod">
        <pc:chgData name="Asanda Ndlela (222065405)" userId="2d17e713-63cf-4693-bcad-ffa89651c8ee" providerId="ADAL" clId="{A27E13A2-0CAC-47A2-B7CD-9BE588BE7E8B}" dt="2025-10-25T12:16:56.036" v="3605" actId="113"/>
        <pc:sldMkLst>
          <pc:docMk/>
          <pc:sldMk cId="2000505937" sldId="268"/>
        </pc:sldMkLst>
        <pc:spChg chg="mod">
          <ac:chgData name="Asanda Ndlela (222065405)" userId="2d17e713-63cf-4693-bcad-ffa89651c8ee" providerId="ADAL" clId="{A27E13A2-0CAC-47A2-B7CD-9BE588BE7E8B}" dt="2025-10-25T12:14:58.251" v="3480" actId="14100"/>
          <ac:spMkLst>
            <pc:docMk/>
            <pc:sldMk cId="2000505937" sldId="268"/>
            <ac:spMk id="2" creationId="{A7BC4E85-83B9-5FAA-FE06-F8BA8DB4C6A2}"/>
          </ac:spMkLst>
        </pc:spChg>
        <pc:spChg chg="add mod">
          <ac:chgData name="Asanda Ndlela (222065405)" userId="2d17e713-63cf-4693-bcad-ffa89651c8ee" providerId="ADAL" clId="{A27E13A2-0CAC-47A2-B7CD-9BE588BE7E8B}" dt="2025-10-25T12:15:04.963" v="3481" actId="1076"/>
          <ac:spMkLst>
            <pc:docMk/>
            <pc:sldMk cId="2000505937" sldId="268"/>
            <ac:spMk id="7" creationId="{328D4742-E8B9-54E2-78CA-F9164E476762}"/>
          </ac:spMkLst>
        </pc:spChg>
        <pc:spChg chg="add mod">
          <ac:chgData name="Asanda Ndlela (222065405)" userId="2d17e713-63cf-4693-bcad-ffa89651c8ee" providerId="ADAL" clId="{A27E13A2-0CAC-47A2-B7CD-9BE588BE7E8B}" dt="2025-10-25T12:16:56.036" v="3605" actId="113"/>
          <ac:spMkLst>
            <pc:docMk/>
            <pc:sldMk cId="2000505937" sldId="268"/>
            <ac:spMk id="8" creationId="{97013980-7CF3-6566-84FE-59B2AC06ED0A}"/>
          </ac:spMkLst>
        </pc:spChg>
        <pc:picChg chg="add mod">
          <ac:chgData name="Asanda Ndlela (222065405)" userId="2d17e713-63cf-4693-bcad-ffa89651c8ee" providerId="ADAL" clId="{A27E13A2-0CAC-47A2-B7CD-9BE588BE7E8B}" dt="2025-10-25T12:12:32.599" v="3410" actId="1076"/>
          <ac:picMkLst>
            <pc:docMk/>
            <pc:sldMk cId="2000505937" sldId="268"/>
            <ac:picMk id="5" creationId="{3108C4E5-41EF-A6CB-452C-B358046A8E7B}"/>
          </ac:picMkLst>
        </pc:picChg>
        <pc:picChg chg="add mod">
          <ac:chgData name="Asanda Ndlela (222065405)" userId="2d17e713-63cf-4693-bcad-ffa89651c8ee" providerId="ADAL" clId="{A27E13A2-0CAC-47A2-B7CD-9BE588BE7E8B}" dt="2025-10-25T12:15:13.658" v="3482" actId="14100"/>
          <ac:picMkLst>
            <pc:docMk/>
            <pc:sldMk cId="2000505937" sldId="268"/>
            <ac:picMk id="9" creationId="{01946B34-77EF-F7C2-F1DA-35F81ED4F86C}"/>
          </ac:picMkLst>
        </pc:picChg>
      </pc:sldChg>
      <pc:sldChg chg="new del">
        <pc:chgData name="Asanda Ndlela (222065405)" userId="2d17e713-63cf-4693-bcad-ffa89651c8ee" providerId="ADAL" clId="{A27E13A2-0CAC-47A2-B7CD-9BE588BE7E8B}" dt="2025-10-25T12:20:48.148" v="3607" actId="2696"/>
        <pc:sldMkLst>
          <pc:docMk/>
          <pc:sldMk cId="2381914183" sldId="269"/>
        </pc:sldMkLst>
      </pc:sldChg>
      <pc:sldChg chg="addSp delSp modSp new mod">
        <pc:chgData name="Asanda Ndlela (222065405)" userId="2d17e713-63cf-4693-bcad-ffa89651c8ee" providerId="ADAL" clId="{A27E13A2-0CAC-47A2-B7CD-9BE588BE7E8B}" dt="2025-10-25T12:36:25.541" v="4178" actId="14100"/>
        <pc:sldMkLst>
          <pc:docMk/>
          <pc:sldMk cId="3340352250" sldId="269"/>
        </pc:sldMkLst>
        <pc:spChg chg="mod">
          <ac:chgData name="Asanda Ndlela (222065405)" userId="2d17e713-63cf-4693-bcad-ffa89651c8ee" providerId="ADAL" clId="{A27E13A2-0CAC-47A2-B7CD-9BE588BE7E8B}" dt="2025-10-25T12:21:46.464" v="3657" actId="27636"/>
          <ac:spMkLst>
            <pc:docMk/>
            <pc:sldMk cId="3340352250" sldId="269"/>
            <ac:spMk id="2" creationId="{86524B82-F15A-C551-7EE8-68C6A0A54181}"/>
          </ac:spMkLst>
        </pc:spChg>
        <pc:spChg chg="mod">
          <ac:chgData name="Asanda Ndlela (222065405)" userId="2d17e713-63cf-4693-bcad-ffa89651c8ee" providerId="ADAL" clId="{A27E13A2-0CAC-47A2-B7CD-9BE588BE7E8B}" dt="2025-10-25T12:31:33.543" v="4172" actId="20577"/>
          <ac:spMkLst>
            <pc:docMk/>
            <pc:sldMk cId="3340352250" sldId="269"/>
            <ac:spMk id="3" creationId="{52C8E1A4-C0FB-F471-4C0D-33F62704606B}"/>
          </ac:spMkLst>
        </pc:spChg>
        <pc:picChg chg="add mod">
          <ac:chgData name="Asanda Ndlela (222065405)" userId="2d17e713-63cf-4693-bcad-ffa89651c8ee" providerId="ADAL" clId="{A27E13A2-0CAC-47A2-B7CD-9BE588BE7E8B}" dt="2025-10-25T12:29:55.931" v="4015" actId="14100"/>
          <ac:picMkLst>
            <pc:docMk/>
            <pc:sldMk cId="3340352250" sldId="269"/>
            <ac:picMk id="5" creationId="{A31D9421-3B17-1E19-C663-790F2B0EA6EE}"/>
          </ac:picMkLst>
        </pc:picChg>
        <pc:picChg chg="add mod">
          <ac:chgData name="Asanda Ndlela (222065405)" userId="2d17e713-63cf-4693-bcad-ffa89651c8ee" providerId="ADAL" clId="{A27E13A2-0CAC-47A2-B7CD-9BE588BE7E8B}" dt="2025-10-25T12:36:25.541" v="4178" actId="14100"/>
          <ac:picMkLst>
            <pc:docMk/>
            <pc:sldMk cId="3340352250" sldId="269"/>
            <ac:picMk id="8" creationId="{3E29FB86-0BBD-1F30-FE7C-9EEA2B25F13E}"/>
          </ac:picMkLst>
        </pc:picChg>
      </pc:sldChg>
      <pc:sldChg chg="addSp modSp new mod setBg">
        <pc:chgData name="Asanda Ndlela (222065405)" userId="2d17e713-63cf-4693-bcad-ffa89651c8ee" providerId="ADAL" clId="{A27E13A2-0CAC-47A2-B7CD-9BE588BE7E8B}" dt="2025-10-25T12:55:51.245" v="5593" actId="14100"/>
        <pc:sldMkLst>
          <pc:docMk/>
          <pc:sldMk cId="1476293340" sldId="270"/>
        </pc:sldMkLst>
        <pc:spChg chg="add mod">
          <ac:chgData name="Asanda Ndlela (222065405)" userId="2d17e713-63cf-4693-bcad-ffa89651c8ee" providerId="ADAL" clId="{A27E13A2-0CAC-47A2-B7CD-9BE588BE7E8B}" dt="2025-10-25T12:54:19.500" v="5583" actId="14100"/>
          <ac:spMkLst>
            <pc:docMk/>
            <pc:sldMk cId="1476293340" sldId="270"/>
            <ac:spMk id="2" creationId="{97818F53-B471-AE2F-FCB4-BA450C071524}"/>
          </ac:spMkLst>
        </pc:spChg>
        <pc:spChg chg="add">
          <ac:chgData name="Asanda Ndlela (222065405)" userId="2d17e713-63cf-4693-bcad-ffa89651c8ee" providerId="ADAL" clId="{A27E13A2-0CAC-47A2-B7CD-9BE588BE7E8B}" dt="2025-10-25T12:53:56.452" v="5581" actId="26606"/>
          <ac:spMkLst>
            <pc:docMk/>
            <pc:sldMk cId="1476293340" sldId="270"/>
            <ac:spMk id="9" creationId="{774A975B-A886-5202-0489-6965514A0D14}"/>
          </ac:spMkLst>
        </pc:spChg>
        <pc:spChg chg="add">
          <ac:chgData name="Asanda Ndlela (222065405)" userId="2d17e713-63cf-4693-bcad-ffa89651c8ee" providerId="ADAL" clId="{A27E13A2-0CAC-47A2-B7CD-9BE588BE7E8B}" dt="2025-10-25T12:53:56.452" v="5581" actId="26606"/>
          <ac:spMkLst>
            <pc:docMk/>
            <pc:sldMk cId="1476293340" sldId="270"/>
            <ac:spMk id="11" creationId="{9EE42DCE-4A4F-44C4-84E5-261B3BEEF1DA}"/>
          </ac:spMkLst>
        </pc:spChg>
        <pc:spChg chg="add">
          <ac:chgData name="Asanda Ndlela (222065405)" userId="2d17e713-63cf-4693-bcad-ffa89651c8ee" providerId="ADAL" clId="{A27E13A2-0CAC-47A2-B7CD-9BE588BE7E8B}" dt="2025-10-25T12:53:56.452" v="5581" actId="26606"/>
          <ac:spMkLst>
            <pc:docMk/>
            <pc:sldMk cId="1476293340" sldId="270"/>
            <ac:spMk id="13" creationId="{887F59F2-5FBC-40CD-AD35-376AECE49EA6}"/>
          </ac:spMkLst>
        </pc:spChg>
        <pc:picChg chg="add mod">
          <ac:chgData name="Asanda Ndlela (222065405)" userId="2d17e713-63cf-4693-bcad-ffa89651c8ee" providerId="ADAL" clId="{A27E13A2-0CAC-47A2-B7CD-9BE588BE7E8B}" dt="2025-10-25T12:55:08.271" v="5591" actId="14100"/>
          <ac:picMkLst>
            <pc:docMk/>
            <pc:sldMk cId="1476293340" sldId="270"/>
            <ac:picMk id="4" creationId="{97128E90-6E33-CDC0-41A8-8D16EE13E2F7}"/>
          </ac:picMkLst>
        </pc:picChg>
        <pc:picChg chg="add mod">
          <ac:chgData name="Asanda Ndlela (222065405)" userId="2d17e713-63cf-4693-bcad-ffa89651c8ee" providerId="ADAL" clId="{A27E13A2-0CAC-47A2-B7CD-9BE588BE7E8B}" dt="2025-10-25T12:55:51.245" v="5593" actId="14100"/>
          <ac:picMkLst>
            <pc:docMk/>
            <pc:sldMk cId="1476293340" sldId="270"/>
            <ac:picMk id="6" creationId="{C1372FC4-3D7A-CABB-8165-41A29F0ACB97}"/>
          </ac:picMkLst>
        </pc:picChg>
      </pc:sldChg>
      <pc:sldChg chg="addSp modSp new mod">
        <pc:chgData name="Asanda Ndlela (222065405)" userId="2d17e713-63cf-4693-bcad-ffa89651c8ee" providerId="ADAL" clId="{A27E13A2-0CAC-47A2-B7CD-9BE588BE7E8B}" dt="2025-10-25T13:00:16.173" v="5684" actId="313"/>
        <pc:sldMkLst>
          <pc:docMk/>
          <pc:sldMk cId="856335561" sldId="271"/>
        </pc:sldMkLst>
        <pc:spChg chg="add mod">
          <ac:chgData name="Asanda Ndlela (222065405)" userId="2d17e713-63cf-4693-bcad-ffa89651c8ee" providerId="ADAL" clId="{A27E13A2-0CAC-47A2-B7CD-9BE588BE7E8B}" dt="2025-10-25T13:00:16.173" v="5684" actId="313"/>
          <ac:spMkLst>
            <pc:docMk/>
            <pc:sldMk cId="856335561" sldId="271"/>
            <ac:spMk id="4" creationId="{3FD5EDC6-ADEB-6423-E95E-E4CE386D0F71}"/>
          </ac:spMkLst>
        </pc:spChg>
        <pc:spChg chg="add mod">
          <ac:chgData name="Asanda Ndlela (222065405)" userId="2d17e713-63cf-4693-bcad-ffa89651c8ee" providerId="ADAL" clId="{A27E13A2-0CAC-47A2-B7CD-9BE588BE7E8B}" dt="2025-10-25T13:00:00.881" v="5680" actId="403"/>
          <ac:spMkLst>
            <pc:docMk/>
            <pc:sldMk cId="856335561" sldId="271"/>
            <ac:spMk id="5" creationId="{B04BDE27-7084-2E93-C47F-394F3D7249B7}"/>
          </ac:spMkLst>
        </pc:spChg>
        <pc:picChg chg="add mod">
          <ac:chgData name="Asanda Ndlela (222065405)" userId="2d17e713-63cf-4693-bcad-ffa89651c8ee" providerId="ADAL" clId="{A27E13A2-0CAC-47A2-B7CD-9BE588BE7E8B}" dt="2025-10-25T12:58:16.204" v="5606" actId="1076"/>
          <ac:picMkLst>
            <pc:docMk/>
            <pc:sldMk cId="856335561" sldId="271"/>
            <ac:picMk id="3" creationId="{8D9CADE2-1DEE-CC99-3FED-63C250B2E25F}"/>
          </ac:picMkLst>
        </pc:picChg>
      </pc:sldChg>
      <pc:sldChg chg="addSp modSp new mod">
        <pc:chgData name="Asanda Ndlela (222065405)" userId="2d17e713-63cf-4693-bcad-ffa89651c8ee" providerId="ADAL" clId="{A27E13A2-0CAC-47A2-B7CD-9BE588BE7E8B}" dt="2025-10-27T12:28:45.692" v="6696" actId="20577"/>
        <pc:sldMkLst>
          <pc:docMk/>
          <pc:sldMk cId="2688537566" sldId="272"/>
        </pc:sldMkLst>
        <pc:spChg chg="mod">
          <ac:chgData name="Asanda Ndlela (222065405)" userId="2d17e713-63cf-4693-bcad-ffa89651c8ee" providerId="ADAL" clId="{A27E13A2-0CAC-47A2-B7CD-9BE588BE7E8B}" dt="2025-10-25T13:02:29.158" v="5698" actId="27636"/>
          <ac:spMkLst>
            <pc:docMk/>
            <pc:sldMk cId="2688537566" sldId="272"/>
            <ac:spMk id="2" creationId="{D5B4FCD4-957B-97FC-E7D7-17152A1FBD1E}"/>
          </ac:spMkLst>
        </pc:spChg>
        <pc:spChg chg="mod">
          <ac:chgData name="Asanda Ndlela (222065405)" userId="2d17e713-63cf-4693-bcad-ffa89651c8ee" providerId="ADAL" clId="{A27E13A2-0CAC-47A2-B7CD-9BE588BE7E8B}" dt="2025-10-27T12:28:45.692" v="6696" actId="20577"/>
          <ac:spMkLst>
            <pc:docMk/>
            <pc:sldMk cId="2688537566" sldId="272"/>
            <ac:spMk id="3" creationId="{67944BB6-A64F-9A0D-6EC4-A6318F13BDED}"/>
          </ac:spMkLst>
        </pc:spChg>
        <pc:picChg chg="add mod">
          <ac:chgData name="Asanda Ndlela (222065405)" userId="2d17e713-63cf-4693-bcad-ffa89651c8ee" providerId="ADAL" clId="{A27E13A2-0CAC-47A2-B7CD-9BE588BE7E8B}" dt="2025-10-25T13:16:31.313" v="6491" actId="14100"/>
          <ac:picMkLst>
            <pc:docMk/>
            <pc:sldMk cId="2688537566" sldId="272"/>
            <ac:picMk id="5" creationId="{9DF79576-398F-4752-7ACD-67984FA4D664}"/>
          </ac:picMkLst>
        </pc:picChg>
      </pc:sldChg>
      <pc:sldChg chg="addSp modSp new mod">
        <pc:chgData name="Asanda Ndlela (222065405)" userId="2d17e713-63cf-4693-bcad-ffa89651c8ee" providerId="ADAL" clId="{A27E13A2-0CAC-47A2-B7CD-9BE588BE7E8B}" dt="2025-10-25T13:20:28.589" v="6573" actId="404"/>
        <pc:sldMkLst>
          <pc:docMk/>
          <pc:sldMk cId="2469929130" sldId="273"/>
        </pc:sldMkLst>
        <pc:spChg chg="add mod">
          <ac:chgData name="Asanda Ndlela (222065405)" userId="2d17e713-63cf-4693-bcad-ffa89651c8ee" providerId="ADAL" clId="{A27E13A2-0CAC-47A2-B7CD-9BE588BE7E8B}" dt="2025-10-25T13:20:14.232" v="6559" actId="20577"/>
          <ac:spMkLst>
            <pc:docMk/>
            <pc:sldMk cId="2469929130" sldId="273"/>
            <ac:spMk id="4" creationId="{EC793627-A908-12A1-3414-B5D63DDAA83F}"/>
          </ac:spMkLst>
        </pc:spChg>
        <pc:spChg chg="add mod">
          <ac:chgData name="Asanda Ndlela (222065405)" userId="2d17e713-63cf-4693-bcad-ffa89651c8ee" providerId="ADAL" clId="{A27E13A2-0CAC-47A2-B7CD-9BE588BE7E8B}" dt="2025-10-25T13:20:28.589" v="6573" actId="404"/>
          <ac:spMkLst>
            <pc:docMk/>
            <pc:sldMk cId="2469929130" sldId="273"/>
            <ac:spMk id="5" creationId="{D245F8D1-D487-1B99-6685-55D22604B3EE}"/>
          </ac:spMkLst>
        </pc:spChg>
        <pc:picChg chg="add mod">
          <ac:chgData name="Asanda Ndlela (222065405)" userId="2d17e713-63cf-4693-bcad-ffa89651c8ee" providerId="ADAL" clId="{A27E13A2-0CAC-47A2-B7CD-9BE588BE7E8B}" dt="2025-10-25T13:19:17.065" v="6541" actId="1076"/>
          <ac:picMkLst>
            <pc:docMk/>
            <pc:sldMk cId="2469929130" sldId="273"/>
            <ac:picMk id="3" creationId="{F84ECB3D-2233-1A77-E240-AEEFBE48622E}"/>
          </ac:picMkLst>
        </pc:picChg>
      </pc:sldChg>
      <pc:sldChg chg="addSp modSp new del mod">
        <pc:chgData name="Asanda Ndlela (222065405)" userId="2d17e713-63cf-4693-bcad-ffa89651c8ee" providerId="ADAL" clId="{A27E13A2-0CAC-47A2-B7CD-9BE588BE7E8B}" dt="2025-10-25T14:53:37.208" v="6611" actId="2696"/>
        <pc:sldMkLst>
          <pc:docMk/>
          <pc:sldMk cId="3221965092" sldId="274"/>
        </pc:sldMkLst>
      </pc:sldChg>
      <pc:sldChg chg="addSp delSp modSp new mod">
        <pc:chgData name="Asanda Ndlela (222065405)" userId="2d17e713-63cf-4693-bcad-ffa89651c8ee" providerId="ADAL" clId="{A27E13A2-0CAC-47A2-B7CD-9BE588BE7E8B}" dt="2025-10-25T15:05:20.170" v="6656" actId="14100"/>
        <pc:sldMkLst>
          <pc:docMk/>
          <pc:sldMk cId="3226210794" sldId="274"/>
        </pc:sldMkLst>
        <pc:spChg chg="mod">
          <ac:chgData name="Asanda Ndlela (222065405)" userId="2d17e713-63cf-4693-bcad-ffa89651c8ee" providerId="ADAL" clId="{A27E13A2-0CAC-47A2-B7CD-9BE588BE7E8B}" dt="2025-10-25T14:55:54.159" v="6647" actId="20577"/>
          <ac:spMkLst>
            <pc:docMk/>
            <pc:sldMk cId="3226210794" sldId="274"/>
            <ac:spMk id="2" creationId="{D82670CB-7D1F-C26F-E0A5-E571EC14DB0F}"/>
          </ac:spMkLst>
        </pc:spChg>
        <pc:picChg chg="add mod">
          <ac:chgData name="Asanda Ndlela (222065405)" userId="2d17e713-63cf-4693-bcad-ffa89651c8ee" providerId="ADAL" clId="{A27E13A2-0CAC-47A2-B7CD-9BE588BE7E8B}" dt="2025-10-25T15:04:40.779" v="6651" actId="962"/>
          <ac:picMkLst>
            <pc:docMk/>
            <pc:sldMk cId="3226210794" sldId="274"/>
            <ac:picMk id="5" creationId="{0A4AF0C0-5BBC-3571-96D0-F8F7EDF40DFA}"/>
          </ac:picMkLst>
        </pc:picChg>
        <pc:picChg chg="add mod">
          <ac:chgData name="Asanda Ndlela (222065405)" userId="2d17e713-63cf-4693-bcad-ffa89651c8ee" providerId="ADAL" clId="{A27E13A2-0CAC-47A2-B7CD-9BE588BE7E8B}" dt="2025-10-25T15:05:20.170" v="6656" actId="14100"/>
          <ac:picMkLst>
            <pc:docMk/>
            <pc:sldMk cId="3226210794" sldId="274"/>
            <ac:picMk id="7" creationId="{AD35A2ED-F372-67B9-9B9D-96FA4ED88363}"/>
          </ac:picMkLst>
        </pc:picChg>
      </pc:sldChg>
      <pc:sldChg chg="addSp delSp modSp new mod">
        <pc:chgData name="Asanda Ndlela (222065405)" userId="2d17e713-63cf-4693-bcad-ffa89651c8ee" providerId="ADAL" clId="{A27E13A2-0CAC-47A2-B7CD-9BE588BE7E8B}" dt="2025-10-25T15:07:06.567" v="6688" actId="403"/>
        <pc:sldMkLst>
          <pc:docMk/>
          <pc:sldMk cId="725708600" sldId="275"/>
        </pc:sldMkLst>
        <pc:spChg chg="add mod">
          <ac:chgData name="Asanda Ndlela (222065405)" userId="2d17e713-63cf-4693-bcad-ffa89651c8ee" providerId="ADAL" clId="{A27E13A2-0CAC-47A2-B7CD-9BE588BE7E8B}" dt="2025-10-25T15:07:06.567" v="6688" actId="403"/>
          <ac:spMkLst>
            <pc:docMk/>
            <pc:sldMk cId="725708600" sldId="275"/>
            <ac:spMk id="6" creationId="{ECEFA726-17F2-DB60-7F04-BAE513D44615}"/>
          </ac:spMkLst>
        </pc:spChg>
        <pc:picChg chg="add mod">
          <ac:chgData name="Asanda Ndlela (222065405)" userId="2d17e713-63cf-4693-bcad-ffa89651c8ee" providerId="ADAL" clId="{A27E13A2-0CAC-47A2-B7CD-9BE588BE7E8B}" dt="2025-10-25T15:06:28.600" v="6668" actId="962"/>
          <ac:picMkLst>
            <pc:docMk/>
            <pc:sldMk cId="725708600" sldId="275"/>
            <ac:picMk id="5" creationId="{7087AE9B-D3C3-2E76-8E9E-D5928BC0DE66}"/>
          </ac:picMkLst>
        </pc:picChg>
      </pc:sldChg>
      <pc:sldChg chg="new del">
        <pc:chgData name="Asanda Ndlela (222065405)" userId="2d17e713-63cf-4693-bcad-ffa89651c8ee" providerId="ADAL" clId="{A27E13A2-0CAC-47A2-B7CD-9BE588BE7E8B}" dt="2025-10-27T10:21:09.497" v="6692" actId="47"/>
        <pc:sldMkLst>
          <pc:docMk/>
          <pc:sldMk cId="306985772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222B1-3A5A-47C8-92C3-841DE0E72105}" type="datetimeFigureOut">
              <a:rPr lang="en-ZA" smtClean="0"/>
              <a:t>2025/11/16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E896C-0A66-4F61-9366-FABE8DD3ADAB}" type="slidenum">
              <a:rPr lang="en-ZA" smtClean="0"/>
              <a:t>‹#›</a:t>
            </a:fld>
            <a:endParaRPr lang="en-ZA"/>
          </a:p>
        </p:txBody>
      </p:sp>
    </p:spTree>
    <p:extLst>
      <p:ext uri="{BB962C8B-B14F-4D97-AF65-F5344CB8AC3E}">
        <p14:creationId xmlns:p14="http://schemas.microsoft.com/office/powerpoint/2010/main" val="1155037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of our project , the aim of our study and group members)</a:t>
            </a:r>
          </a:p>
          <a:p>
            <a:endParaRPr lang="en-ZA" dirty="0"/>
          </a:p>
        </p:txBody>
      </p:sp>
      <p:sp>
        <p:nvSpPr>
          <p:cNvPr id="4" name="Slide Number Placeholder 3"/>
          <p:cNvSpPr>
            <a:spLocks noGrp="1"/>
          </p:cNvSpPr>
          <p:nvPr>
            <p:ph type="sldNum" sz="quarter" idx="5"/>
          </p:nvPr>
        </p:nvSpPr>
        <p:spPr/>
        <p:txBody>
          <a:bodyPr/>
          <a:lstStyle/>
          <a:p>
            <a:fld id="{6B0E896C-0A66-4F61-9366-FABE8DD3ADAB}" type="slidenum">
              <a:rPr lang="en-ZA" smtClean="0"/>
              <a:t>1</a:t>
            </a:fld>
            <a:endParaRPr lang="en-ZA"/>
          </a:p>
        </p:txBody>
      </p:sp>
    </p:spTree>
    <p:extLst>
      <p:ext uri="{BB962C8B-B14F-4D97-AF65-F5344CB8AC3E}">
        <p14:creationId xmlns:p14="http://schemas.microsoft.com/office/powerpoint/2010/main" val="3021346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a:t>
            </a:r>
          </a:p>
          <a:p>
            <a:endParaRPr lang="en-ZA" dirty="0"/>
          </a:p>
        </p:txBody>
      </p:sp>
      <p:sp>
        <p:nvSpPr>
          <p:cNvPr id="4" name="Slide Number Placeholder 3"/>
          <p:cNvSpPr>
            <a:spLocks noGrp="1"/>
          </p:cNvSpPr>
          <p:nvPr>
            <p:ph type="sldNum" sz="quarter" idx="5"/>
          </p:nvPr>
        </p:nvSpPr>
        <p:spPr/>
        <p:txBody>
          <a:bodyPr/>
          <a:lstStyle/>
          <a:p>
            <a:fld id="{6B0E896C-0A66-4F61-9366-FABE8DD3ADAB}" type="slidenum">
              <a:rPr lang="en-ZA" smtClean="0"/>
              <a:t>2</a:t>
            </a:fld>
            <a:endParaRPr lang="en-ZA"/>
          </a:p>
        </p:txBody>
      </p:sp>
    </p:spTree>
    <p:extLst>
      <p:ext uri="{BB962C8B-B14F-4D97-AF65-F5344CB8AC3E}">
        <p14:creationId xmlns:p14="http://schemas.microsoft.com/office/powerpoint/2010/main" val="163698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B0E896C-0A66-4F61-9366-FABE8DD3ADAB}" type="slidenum">
              <a:rPr lang="en-ZA" smtClean="0"/>
              <a:t>10</a:t>
            </a:fld>
            <a:endParaRPr lang="en-ZA"/>
          </a:p>
        </p:txBody>
      </p:sp>
    </p:spTree>
    <p:extLst>
      <p:ext uri="{BB962C8B-B14F-4D97-AF65-F5344CB8AC3E}">
        <p14:creationId xmlns:p14="http://schemas.microsoft.com/office/powerpoint/2010/main" val="2155659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0556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6213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396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08926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3461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9248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99789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95343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80801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7207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11/16/2025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879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11/16/2025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474466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7C9AD6-092C-D5A8-94DD-1A6089985612}"/>
              </a:ext>
            </a:extLst>
          </p:cNvPr>
          <p:cNvSpPr>
            <a:spLocks noGrp="1"/>
          </p:cNvSpPr>
          <p:nvPr>
            <p:ph type="ctrTitle"/>
          </p:nvPr>
        </p:nvSpPr>
        <p:spPr>
          <a:xfrm>
            <a:off x="517870" y="978408"/>
            <a:ext cx="8107790" cy="2320399"/>
          </a:xfrm>
        </p:spPr>
        <p:txBody>
          <a:bodyPr anchor="t">
            <a:normAutofit/>
          </a:bodyPr>
          <a:lstStyle/>
          <a:p>
            <a:r>
              <a:rPr lang="en-US" dirty="0"/>
              <a:t>SAS Meets the Classroom</a:t>
            </a:r>
            <a:endParaRPr lang="en-ZA" dirty="0"/>
          </a:p>
        </p:txBody>
      </p:sp>
      <p:sp>
        <p:nvSpPr>
          <p:cNvPr id="3" name="Subtitle 2">
            <a:extLst>
              <a:ext uri="{FF2B5EF4-FFF2-40B4-BE49-F238E27FC236}">
                <a16:creationId xmlns:a16="http://schemas.microsoft.com/office/drawing/2014/main" id="{D0C7A9E3-8E13-7FF0-ABFC-2B7919835DA9}"/>
              </a:ext>
            </a:extLst>
          </p:cNvPr>
          <p:cNvSpPr>
            <a:spLocks noGrp="1"/>
          </p:cNvSpPr>
          <p:nvPr>
            <p:ph type="subTitle" idx="1"/>
          </p:nvPr>
        </p:nvSpPr>
        <p:spPr>
          <a:xfrm>
            <a:off x="517871" y="4475338"/>
            <a:ext cx="10439940" cy="2136001"/>
          </a:xfrm>
        </p:spPr>
        <p:txBody>
          <a:bodyPr anchor="b">
            <a:normAutofit/>
          </a:bodyPr>
          <a:lstStyle/>
          <a:p>
            <a:r>
              <a:rPr lang="en-US" b="1" i="0" dirty="0">
                <a:latin typeface="Arial" panose="020B0604020202020204" pitchFamily="34" charset="0"/>
                <a:cs typeface="Arial" panose="020B0604020202020204" pitchFamily="34" charset="0"/>
              </a:rPr>
              <a:t>Asanda Ndlela</a:t>
            </a:r>
          </a:p>
          <a:p>
            <a:r>
              <a:rPr lang="en-US" b="1" i="0" dirty="0">
                <a:latin typeface="Arial" panose="020B0604020202020204" pitchFamily="34" charset="0"/>
                <a:cs typeface="Arial" panose="020B0604020202020204" pitchFamily="34" charset="0"/>
              </a:rPr>
              <a:t>Karina Hemraj</a:t>
            </a:r>
          </a:p>
          <a:p>
            <a:endParaRPr lang="en-US" dirty="0"/>
          </a:p>
        </p:txBody>
      </p:sp>
      <p:sp>
        <p:nvSpPr>
          <p:cNvPr id="13" name="Rectangle 1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10779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20011C4F-7FF0-7357-C559-B7679DC27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810195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logo of a globe and a book&#10;&#10;AI-generated content may be incorrect.">
            <a:extLst>
              <a:ext uri="{FF2B5EF4-FFF2-40B4-BE49-F238E27FC236}">
                <a16:creationId xmlns:a16="http://schemas.microsoft.com/office/drawing/2014/main" id="{E411495D-1E93-2076-97AF-28CFB28C6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7889" y="152987"/>
            <a:ext cx="1159239" cy="1172824"/>
          </a:xfrm>
          <a:prstGeom prst="rect">
            <a:avLst/>
          </a:prstGeom>
        </p:spPr>
      </p:pic>
      <p:sp>
        <p:nvSpPr>
          <p:cNvPr id="7" name="TextBox 6">
            <a:extLst>
              <a:ext uri="{FF2B5EF4-FFF2-40B4-BE49-F238E27FC236}">
                <a16:creationId xmlns:a16="http://schemas.microsoft.com/office/drawing/2014/main" id="{5A02DD9F-6046-D53A-D1ED-182064DA924D}"/>
              </a:ext>
            </a:extLst>
          </p:cNvPr>
          <p:cNvSpPr txBox="1"/>
          <p:nvPr/>
        </p:nvSpPr>
        <p:spPr>
          <a:xfrm>
            <a:off x="9171770" y="1439479"/>
            <a:ext cx="3414549" cy="830997"/>
          </a:xfrm>
          <a:prstGeom prst="rect">
            <a:avLst/>
          </a:prstGeom>
          <a:noFill/>
        </p:spPr>
        <p:txBody>
          <a:bodyPr wrap="square" rtlCol="0">
            <a:spAutoFit/>
          </a:bodyPr>
          <a:lstStyle/>
          <a:p>
            <a:r>
              <a:rPr lang="en-US" sz="2400" b="1" dirty="0"/>
              <a:t>STAT305 BIOSTATISTICS </a:t>
            </a:r>
            <a:endParaRPr lang="en-ZA" sz="2400" b="1" dirty="0"/>
          </a:p>
        </p:txBody>
      </p:sp>
      <p:sp>
        <p:nvSpPr>
          <p:cNvPr id="9" name="TextBox 8">
            <a:extLst>
              <a:ext uri="{FF2B5EF4-FFF2-40B4-BE49-F238E27FC236}">
                <a16:creationId xmlns:a16="http://schemas.microsoft.com/office/drawing/2014/main" id="{C080CF94-B1C3-48B8-5DCC-B45B127F74EA}"/>
              </a:ext>
            </a:extLst>
          </p:cNvPr>
          <p:cNvSpPr txBox="1"/>
          <p:nvPr/>
        </p:nvSpPr>
        <p:spPr>
          <a:xfrm>
            <a:off x="5486875" y="5132708"/>
            <a:ext cx="3927423" cy="1384995"/>
          </a:xfrm>
          <a:prstGeom prst="rect">
            <a:avLst/>
          </a:prstGeom>
          <a:noFill/>
        </p:spPr>
        <p:txBody>
          <a:bodyPr wrap="square" rtlCol="0">
            <a:spAutoFit/>
          </a:bodyPr>
          <a:lstStyle/>
          <a:p>
            <a:r>
              <a:rPr lang="en-US" sz="2200" b="1" i="0" dirty="0">
                <a:latin typeface="Arial" panose="020B0604020202020204" pitchFamily="34" charset="0"/>
                <a:cs typeface="Arial" panose="020B0604020202020204" pitchFamily="34" charset="0"/>
              </a:rPr>
              <a:t>Mohammed Usayd Ismail</a:t>
            </a:r>
          </a:p>
          <a:p>
            <a:r>
              <a:rPr lang="en-US" sz="2200" b="1" i="0" dirty="0" err="1">
                <a:latin typeface="Arial" panose="020B0604020202020204" pitchFamily="34" charset="0"/>
                <a:cs typeface="Arial" panose="020B0604020202020204" pitchFamily="34" charset="0"/>
              </a:rPr>
              <a:t>Swelihle</a:t>
            </a:r>
            <a:r>
              <a:rPr lang="en-US" sz="2200" b="1" i="0" dirty="0">
                <a:latin typeface="Arial" panose="020B0604020202020204" pitchFamily="34" charset="0"/>
                <a:cs typeface="Arial" panose="020B0604020202020204" pitchFamily="34" charset="0"/>
              </a:rPr>
              <a:t> Mhlongo</a:t>
            </a:r>
          </a:p>
          <a:p>
            <a:r>
              <a:rPr lang="en-ZA" sz="2200" b="1" i="0" dirty="0">
                <a:latin typeface="Arial" panose="020B0604020202020204" pitchFamily="34" charset="0"/>
                <a:cs typeface="Arial" panose="020B0604020202020204" pitchFamily="34" charset="0"/>
              </a:rPr>
              <a:t>Siphiwo </a:t>
            </a:r>
            <a:r>
              <a:rPr lang="en-ZA" sz="2200" b="1" i="0" dirty="0" err="1">
                <a:latin typeface="Arial" panose="020B0604020202020204" pitchFamily="34" charset="0"/>
                <a:cs typeface="Arial" panose="020B0604020202020204" pitchFamily="34" charset="0"/>
              </a:rPr>
              <a:t>Sandiso</a:t>
            </a:r>
            <a:r>
              <a:rPr lang="en-ZA" sz="2200" b="1" i="0" dirty="0">
                <a:latin typeface="Arial" panose="020B0604020202020204" pitchFamily="34" charset="0"/>
                <a:cs typeface="Arial" panose="020B0604020202020204" pitchFamily="34" charset="0"/>
              </a:rPr>
              <a:t> Hlabisa</a:t>
            </a:r>
            <a:r>
              <a:rPr lang="en-ZA" sz="2200" b="1" dirty="0">
                <a:latin typeface="Arial" panose="020B0604020202020204" pitchFamily="34" charset="0"/>
                <a:cs typeface="Arial" panose="020B0604020202020204" pitchFamily="34" charset="0"/>
              </a:rPr>
              <a:t> </a:t>
            </a:r>
            <a:endParaRPr lang="en-US" sz="2200" b="1" dirty="0">
              <a:latin typeface="Arial" panose="020B0604020202020204" pitchFamily="34" charset="0"/>
              <a:cs typeface="Arial" panose="020B0604020202020204" pitchFamily="34" charset="0"/>
            </a:endParaRPr>
          </a:p>
          <a:p>
            <a:endParaRPr lang="en-ZA" dirty="0"/>
          </a:p>
        </p:txBody>
      </p:sp>
      <p:sp>
        <p:nvSpPr>
          <p:cNvPr id="10" name="TextBox 9">
            <a:extLst>
              <a:ext uri="{FF2B5EF4-FFF2-40B4-BE49-F238E27FC236}">
                <a16:creationId xmlns:a16="http://schemas.microsoft.com/office/drawing/2014/main" id="{FEE5BCE9-D635-ECD2-64FF-F3E0068258FA}"/>
              </a:ext>
            </a:extLst>
          </p:cNvPr>
          <p:cNvSpPr txBox="1"/>
          <p:nvPr/>
        </p:nvSpPr>
        <p:spPr>
          <a:xfrm>
            <a:off x="511084" y="3257903"/>
            <a:ext cx="8896428" cy="830997"/>
          </a:xfrm>
          <a:prstGeom prst="rect">
            <a:avLst/>
          </a:prstGeom>
          <a:noFill/>
        </p:spPr>
        <p:txBody>
          <a:bodyPr wrap="square" rtlCol="0">
            <a:spAutoFit/>
          </a:bodyPr>
          <a:lstStyle/>
          <a:p>
            <a:r>
              <a:rPr lang="en-US" sz="2400" b="1" dirty="0"/>
              <a:t>Modeling Factors Influencing Student Academic Performance Using Logistic Regression</a:t>
            </a:r>
            <a:endParaRPr lang="en-ZA" sz="2400" b="1" dirty="0"/>
          </a:p>
        </p:txBody>
      </p:sp>
    </p:spTree>
    <p:extLst>
      <p:ext uri="{BB962C8B-B14F-4D97-AF65-F5344CB8AC3E}">
        <p14:creationId xmlns:p14="http://schemas.microsoft.com/office/powerpoint/2010/main" val="52662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0859-3C25-905C-D1D2-3E0FB3618FC3}"/>
              </a:ext>
            </a:extLst>
          </p:cNvPr>
          <p:cNvSpPr>
            <a:spLocks noGrp="1"/>
          </p:cNvSpPr>
          <p:nvPr>
            <p:ph type="title"/>
          </p:nvPr>
        </p:nvSpPr>
        <p:spPr>
          <a:xfrm>
            <a:off x="521208" y="978408"/>
            <a:ext cx="11155680" cy="1614890"/>
          </a:xfrm>
        </p:spPr>
        <p:txBody>
          <a:bodyPr/>
          <a:lstStyle/>
          <a:p>
            <a:r>
              <a:rPr lang="en-US" dirty="0"/>
              <a:t>“Students have always been trying to pass. We just have more variables now.”</a:t>
            </a:r>
            <a:endParaRPr lang="en-ZA" dirty="0"/>
          </a:p>
        </p:txBody>
      </p:sp>
      <p:pic>
        <p:nvPicPr>
          <p:cNvPr id="5" name="Content Placeholder 4" descr="A group of children sitting at desks reading books">
            <a:extLst>
              <a:ext uri="{FF2B5EF4-FFF2-40B4-BE49-F238E27FC236}">
                <a16:creationId xmlns:a16="http://schemas.microsoft.com/office/drawing/2014/main" id="{F9244607-E758-6D0B-F969-D2D3FB7DC9E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9784" y="2593298"/>
            <a:ext cx="5021705" cy="3640272"/>
          </a:xfrm>
        </p:spPr>
      </p:pic>
      <p:pic>
        <p:nvPicPr>
          <p:cNvPr id="7" name="Picture 6" descr="A person standing next to a person looking at a computer&#10;&#10;AI-generated content may be incorrect.">
            <a:extLst>
              <a:ext uri="{FF2B5EF4-FFF2-40B4-BE49-F238E27FC236}">
                <a16:creationId xmlns:a16="http://schemas.microsoft.com/office/drawing/2014/main" id="{3117492C-9055-4EBA-71CB-77E1BC8DF2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2913" y="2593298"/>
            <a:ext cx="5460409" cy="3640273"/>
          </a:xfrm>
          <a:prstGeom prst="rect">
            <a:avLst/>
          </a:prstGeom>
        </p:spPr>
      </p:pic>
    </p:spTree>
    <p:extLst>
      <p:ext uri="{BB962C8B-B14F-4D97-AF65-F5344CB8AC3E}">
        <p14:creationId xmlns:p14="http://schemas.microsoft.com/office/powerpoint/2010/main" val="388795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F57F3D-1D53-D911-EEB7-A0BF6F8B9B4E}"/>
              </a:ext>
            </a:extLst>
          </p:cNvPr>
          <p:cNvSpPr>
            <a:spLocks noGrp="1"/>
          </p:cNvSpPr>
          <p:nvPr>
            <p:ph type="title"/>
          </p:nvPr>
        </p:nvSpPr>
        <p:spPr>
          <a:xfrm>
            <a:off x="521208" y="978408"/>
            <a:ext cx="6281928" cy="1463040"/>
          </a:xfrm>
        </p:spPr>
        <p:txBody>
          <a:bodyPr vert="horz" lIns="91440" tIns="45720" rIns="91440" bIns="45720" rtlCol="0" anchor="t">
            <a:normAutofit/>
          </a:bodyPr>
          <a:lstStyle/>
          <a:p>
            <a:pPr>
              <a:lnSpc>
                <a:spcPct val="90000"/>
              </a:lnSpc>
            </a:pPr>
            <a:r>
              <a:rPr lang="en-US" sz="3700" b="1" kern="1200" dirty="0">
                <a:solidFill>
                  <a:schemeClr val="tx1"/>
                </a:solidFill>
                <a:latin typeface="+mj-lt"/>
                <a:ea typeface="+mj-ea"/>
                <a:cs typeface="+mj-cs"/>
              </a:rPr>
              <a:t>Understanding the student performance dataset</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723ED94-73AF-9AEC-72FB-BE239BF12572}"/>
              </a:ext>
            </a:extLst>
          </p:cNvPr>
          <p:cNvSpPr>
            <a:spLocks noChangeArrowheads="1"/>
          </p:cNvSpPr>
          <p:nvPr/>
        </p:nvSpPr>
        <p:spPr bwMode="auto">
          <a:xfrm>
            <a:off x="480537" y="2248825"/>
            <a:ext cx="6281928" cy="8973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p>
            <a:pPr marL="0" marR="0" lvl="0" indent="-228600" fontAlgn="base">
              <a:lnSpc>
                <a:spcPct val="110000"/>
              </a:lnSpc>
              <a:spcBef>
                <a:spcPct val="0"/>
              </a:spcBef>
              <a:spcAft>
                <a:spcPts val="600"/>
              </a:spcAft>
              <a:buClrTx/>
              <a:buSzTx/>
              <a:buFont typeface="Arial" panose="020B0604020202020204" pitchFamily="34" charset="0"/>
              <a:buChar char="•"/>
              <a:tabLst/>
            </a:pPr>
            <a:r>
              <a:rPr kumimoji="0" lang="en-US" altLang="en-US" sz="1700" b="0" i="0" u="none" strike="noStrike" cap="none" normalizeH="0" baseline="0" dirty="0">
                <a:ln>
                  <a:noFill/>
                </a:ln>
                <a:effectLst/>
              </a:rPr>
              <a:t>The table </a:t>
            </a:r>
            <a:r>
              <a:rPr lang="en-US" altLang="en-US" sz="1700" dirty="0"/>
              <a:t>on the right</a:t>
            </a:r>
            <a:r>
              <a:rPr kumimoji="0" lang="en-US" altLang="en-US" sz="1700" b="0" i="0" u="none" strike="noStrike" cap="none" normalizeH="0" baseline="0" dirty="0">
                <a:ln>
                  <a:noFill/>
                </a:ln>
                <a:effectLst/>
              </a:rPr>
              <a:t> shows each variable with its measurement scale. The response variable of interest is Final grade.</a:t>
            </a:r>
          </a:p>
          <a:p>
            <a:endParaRPr lang="en-ZA" dirty="0"/>
          </a:p>
          <a:p>
            <a:endParaRPr lang="en-ZA" dirty="0"/>
          </a:p>
          <a:p>
            <a:pPr marL="0" marR="0" lvl="0" indent="-228600" fontAlgn="base">
              <a:lnSpc>
                <a:spcPct val="110000"/>
              </a:lnSpc>
              <a:spcBef>
                <a:spcPct val="0"/>
              </a:spcBef>
              <a:spcAft>
                <a:spcPts val="600"/>
              </a:spcAft>
              <a:buClrTx/>
              <a:buSzTx/>
              <a:buFont typeface="Arial" panose="020B0604020202020204" pitchFamily="34" charset="0"/>
              <a:buChar char="•"/>
              <a:tabLst/>
            </a:pPr>
            <a:endParaRPr kumimoji="0" lang="en-US" altLang="en-US" b="0" i="0" u="none" strike="noStrike" cap="none" normalizeH="0" baseline="0" dirty="0">
              <a:ln>
                <a:noFill/>
              </a:ln>
              <a:effectLst/>
            </a:endParaRPr>
          </a:p>
          <a:p>
            <a:pPr marL="0" marR="0" lvl="0" indent="-228600" fontAlgn="base">
              <a:lnSpc>
                <a:spcPct val="110000"/>
              </a:lnSpc>
              <a:spcBef>
                <a:spcPct val="0"/>
              </a:spcBef>
              <a:spcAft>
                <a:spcPts val="600"/>
              </a:spcAft>
              <a:buClrTx/>
              <a:buSzTx/>
              <a:buFont typeface="Arial" panose="020B0604020202020204" pitchFamily="34" charset="0"/>
              <a:buChar char="•"/>
              <a:tabLst/>
            </a:pPr>
            <a:endParaRPr kumimoji="0" lang="en-US" altLang="en-US" b="0" i="0" u="none" strike="noStrike" cap="none" normalizeH="0" baseline="0" dirty="0">
              <a:ln>
                <a:noFill/>
              </a:ln>
              <a:effectLst/>
            </a:endParaRPr>
          </a:p>
        </p:txBody>
      </p:sp>
      <p:graphicFrame>
        <p:nvGraphicFramePr>
          <p:cNvPr id="4" name="Content Placeholder 3">
            <a:extLst>
              <a:ext uri="{FF2B5EF4-FFF2-40B4-BE49-F238E27FC236}">
                <a16:creationId xmlns:a16="http://schemas.microsoft.com/office/drawing/2014/main" id="{633DAF6F-6833-1033-1B3F-F66D7AE15EEC}"/>
              </a:ext>
            </a:extLst>
          </p:cNvPr>
          <p:cNvGraphicFramePr>
            <a:graphicFrameLocks noGrp="1"/>
          </p:cNvGraphicFramePr>
          <p:nvPr>
            <p:ph idx="1"/>
            <p:extLst>
              <p:ext uri="{D42A27DB-BD31-4B8C-83A1-F6EECF244321}">
                <p14:modId xmlns:p14="http://schemas.microsoft.com/office/powerpoint/2010/main" val="2121873751"/>
              </p:ext>
            </p:extLst>
          </p:nvPr>
        </p:nvGraphicFramePr>
        <p:xfrm>
          <a:off x="8050777" y="657369"/>
          <a:ext cx="4138175" cy="6200631"/>
        </p:xfrm>
        <a:graphic>
          <a:graphicData uri="http://schemas.openxmlformats.org/drawingml/2006/table">
            <a:tbl>
              <a:tblPr firstRow="1" firstCol="1" bandRow="1">
                <a:tableStyleId>{5C22544A-7EE6-4342-B048-85BDC9FD1C3A}</a:tableStyleId>
              </a:tblPr>
              <a:tblGrid>
                <a:gridCol w="2689855">
                  <a:extLst>
                    <a:ext uri="{9D8B030D-6E8A-4147-A177-3AD203B41FA5}">
                      <a16:colId xmlns:a16="http://schemas.microsoft.com/office/drawing/2014/main" val="2988190416"/>
                    </a:ext>
                  </a:extLst>
                </a:gridCol>
                <a:gridCol w="1448320">
                  <a:extLst>
                    <a:ext uri="{9D8B030D-6E8A-4147-A177-3AD203B41FA5}">
                      <a16:colId xmlns:a16="http://schemas.microsoft.com/office/drawing/2014/main" val="2821737099"/>
                    </a:ext>
                  </a:extLst>
                </a:gridCol>
              </a:tblGrid>
              <a:tr h="561041">
                <a:tc>
                  <a:txBody>
                    <a:bodyPr/>
                    <a:lstStyle/>
                    <a:p>
                      <a:pPr algn="ctr">
                        <a:lnSpc>
                          <a:spcPct val="107000"/>
                        </a:lnSpc>
                        <a:spcAft>
                          <a:spcPts val="800"/>
                        </a:spcAft>
                        <a:buNone/>
                      </a:pPr>
                      <a:r>
                        <a:rPr lang="en-ZA" sz="1500" kern="100" dirty="0">
                          <a:effectLst/>
                        </a:rPr>
                        <a:t>Variable</a:t>
                      </a:r>
                      <a:endParaRPr lang="en-ZA"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Measurement Scale</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1310557173"/>
                  </a:ext>
                </a:extLst>
              </a:tr>
              <a:tr h="284168">
                <a:tc>
                  <a:txBody>
                    <a:bodyPr/>
                    <a:lstStyle/>
                    <a:p>
                      <a:pPr>
                        <a:lnSpc>
                          <a:spcPct val="107000"/>
                        </a:lnSpc>
                        <a:spcAft>
                          <a:spcPts val="800"/>
                        </a:spcAft>
                        <a:buNone/>
                      </a:pPr>
                      <a:r>
                        <a:rPr lang="en-ZA" sz="1500" kern="100">
                          <a:effectLst/>
                        </a:rPr>
                        <a:t>Gender (Student’s gender)</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397667696"/>
                  </a:ext>
                </a:extLst>
              </a:tr>
              <a:tr h="284168">
                <a:tc>
                  <a:txBody>
                    <a:bodyPr/>
                    <a:lstStyle/>
                    <a:p>
                      <a:pPr>
                        <a:lnSpc>
                          <a:spcPct val="107000"/>
                        </a:lnSpc>
                        <a:spcAft>
                          <a:spcPts val="800"/>
                        </a:spcAft>
                        <a:buNone/>
                      </a:pPr>
                      <a:r>
                        <a:rPr lang="en-ZA" sz="1500" kern="100">
                          <a:effectLst/>
                        </a:rPr>
                        <a:t>Age (Student’s age)</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Ratio</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920722929"/>
                  </a:ext>
                </a:extLst>
              </a:tr>
              <a:tr h="561041">
                <a:tc>
                  <a:txBody>
                    <a:bodyPr/>
                    <a:lstStyle/>
                    <a:p>
                      <a:pPr>
                        <a:lnSpc>
                          <a:spcPct val="107000"/>
                        </a:lnSpc>
                        <a:spcAft>
                          <a:spcPts val="800"/>
                        </a:spcAft>
                        <a:buNone/>
                      </a:pPr>
                      <a:r>
                        <a:rPr lang="en-ZA" sz="1500" kern="100">
                          <a:effectLst/>
                        </a:rPr>
                        <a:t>Address (Student’s home address type)</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1035016943"/>
                  </a:ext>
                </a:extLst>
              </a:tr>
              <a:tr h="284168">
                <a:tc>
                  <a:txBody>
                    <a:bodyPr/>
                    <a:lstStyle/>
                    <a:p>
                      <a:pPr>
                        <a:lnSpc>
                          <a:spcPct val="107000"/>
                        </a:lnSpc>
                        <a:spcAft>
                          <a:spcPts val="800"/>
                        </a:spcAft>
                        <a:buNone/>
                      </a:pPr>
                      <a:r>
                        <a:rPr lang="en-ZA" sz="1500" kern="100">
                          <a:effectLst/>
                        </a:rPr>
                        <a:t>Famsize (Family size)</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587040843"/>
                  </a:ext>
                </a:extLst>
              </a:tr>
              <a:tr h="561041">
                <a:tc>
                  <a:txBody>
                    <a:bodyPr/>
                    <a:lstStyle/>
                    <a:p>
                      <a:pPr>
                        <a:lnSpc>
                          <a:spcPct val="107000"/>
                        </a:lnSpc>
                        <a:spcAft>
                          <a:spcPts val="800"/>
                        </a:spcAft>
                        <a:buNone/>
                      </a:pPr>
                      <a:r>
                        <a:rPr lang="en-ZA" sz="1500" kern="100">
                          <a:effectLst/>
                        </a:rPr>
                        <a:t>Pstatus (Parent’s cohabitation status)</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08823570"/>
                  </a:ext>
                </a:extLst>
              </a:tr>
              <a:tr h="284168">
                <a:tc>
                  <a:txBody>
                    <a:bodyPr/>
                    <a:lstStyle/>
                    <a:p>
                      <a:pPr>
                        <a:lnSpc>
                          <a:spcPct val="107000"/>
                        </a:lnSpc>
                        <a:spcAft>
                          <a:spcPts val="800"/>
                        </a:spcAft>
                        <a:buNone/>
                      </a:pPr>
                      <a:r>
                        <a:rPr lang="en-ZA" sz="1500" kern="100">
                          <a:effectLst/>
                        </a:rPr>
                        <a:t>Medu (Mother’s education)</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Ordinal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3213424364"/>
                  </a:ext>
                </a:extLst>
              </a:tr>
              <a:tr h="284168">
                <a:tc>
                  <a:txBody>
                    <a:bodyPr/>
                    <a:lstStyle/>
                    <a:p>
                      <a:pPr>
                        <a:lnSpc>
                          <a:spcPct val="107000"/>
                        </a:lnSpc>
                        <a:spcAft>
                          <a:spcPts val="800"/>
                        </a:spcAft>
                        <a:buNone/>
                      </a:pPr>
                      <a:r>
                        <a:rPr lang="en-ZA" sz="1500" kern="100">
                          <a:effectLst/>
                        </a:rPr>
                        <a:t>Fedu (Father’s education) </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Ordinal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1800905655"/>
                  </a:ext>
                </a:extLst>
              </a:tr>
              <a:tr h="284168">
                <a:tc>
                  <a:txBody>
                    <a:bodyPr/>
                    <a:lstStyle/>
                    <a:p>
                      <a:pPr>
                        <a:lnSpc>
                          <a:spcPct val="107000"/>
                        </a:lnSpc>
                        <a:spcAft>
                          <a:spcPts val="800"/>
                        </a:spcAft>
                        <a:buNone/>
                      </a:pPr>
                      <a:r>
                        <a:rPr lang="en-ZA" sz="1500" kern="100">
                          <a:effectLst/>
                        </a:rPr>
                        <a:t>Mjob (Mother’s job)</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275941627"/>
                  </a:ext>
                </a:extLst>
              </a:tr>
              <a:tr h="284168">
                <a:tc>
                  <a:txBody>
                    <a:bodyPr/>
                    <a:lstStyle/>
                    <a:p>
                      <a:pPr>
                        <a:lnSpc>
                          <a:spcPct val="107000"/>
                        </a:lnSpc>
                        <a:spcAft>
                          <a:spcPts val="800"/>
                        </a:spcAft>
                        <a:buNone/>
                      </a:pPr>
                      <a:r>
                        <a:rPr lang="en-ZA" sz="1500" kern="100">
                          <a:effectLst/>
                        </a:rPr>
                        <a:t>Fjob (Father’s job)</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410205855"/>
                  </a:ext>
                </a:extLst>
              </a:tr>
              <a:tr h="561041">
                <a:tc>
                  <a:txBody>
                    <a:bodyPr/>
                    <a:lstStyle/>
                    <a:p>
                      <a:pPr>
                        <a:lnSpc>
                          <a:spcPct val="107000"/>
                        </a:lnSpc>
                        <a:spcAft>
                          <a:spcPts val="800"/>
                        </a:spcAft>
                        <a:buNone/>
                      </a:pPr>
                      <a:r>
                        <a:rPr lang="en-ZA" sz="1500" kern="100">
                          <a:effectLst/>
                        </a:rPr>
                        <a:t>Higher (Wants to take higher education)</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3309040469"/>
                  </a:ext>
                </a:extLst>
              </a:tr>
              <a:tr h="561041">
                <a:tc>
                  <a:txBody>
                    <a:bodyPr/>
                    <a:lstStyle/>
                    <a:p>
                      <a:pPr>
                        <a:lnSpc>
                          <a:spcPct val="107000"/>
                        </a:lnSpc>
                        <a:spcAft>
                          <a:spcPts val="800"/>
                        </a:spcAft>
                        <a:buNone/>
                      </a:pPr>
                      <a:r>
                        <a:rPr lang="en-ZA" sz="1500" kern="100">
                          <a:effectLst/>
                        </a:rPr>
                        <a:t>Internet (Internet access at home)</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Nominal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602165385"/>
                  </a:ext>
                </a:extLst>
              </a:tr>
              <a:tr h="561041">
                <a:tc>
                  <a:txBody>
                    <a:bodyPr/>
                    <a:lstStyle/>
                    <a:p>
                      <a:pPr>
                        <a:lnSpc>
                          <a:spcPct val="107000"/>
                        </a:lnSpc>
                        <a:spcAft>
                          <a:spcPts val="800"/>
                        </a:spcAft>
                        <a:buNone/>
                      </a:pPr>
                      <a:r>
                        <a:rPr lang="en-ZA" sz="1500" kern="100">
                          <a:effectLst/>
                        </a:rPr>
                        <a:t>Health (Current health status index)</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Ordinal</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158678238"/>
                  </a:ext>
                </a:extLst>
              </a:tr>
              <a:tr h="561041">
                <a:tc>
                  <a:txBody>
                    <a:bodyPr/>
                    <a:lstStyle/>
                    <a:p>
                      <a:pPr>
                        <a:lnSpc>
                          <a:spcPct val="107000"/>
                        </a:lnSpc>
                        <a:spcAft>
                          <a:spcPts val="800"/>
                        </a:spcAft>
                        <a:buNone/>
                      </a:pPr>
                      <a:r>
                        <a:rPr lang="en-ZA" sz="1500" kern="100" dirty="0">
                          <a:effectLst/>
                        </a:rPr>
                        <a:t>Absences (Number of school absences)</a:t>
                      </a:r>
                      <a:endParaRPr lang="en-ZA"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a:effectLst/>
                        </a:rPr>
                        <a:t>Ratio</a:t>
                      </a:r>
                      <a:endParaRPr lang="en-ZA" sz="1500" kern="10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3631009150"/>
                  </a:ext>
                </a:extLst>
              </a:tr>
              <a:tr h="284168">
                <a:tc>
                  <a:txBody>
                    <a:bodyPr/>
                    <a:lstStyle/>
                    <a:p>
                      <a:pPr>
                        <a:lnSpc>
                          <a:spcPct val="107000"/>
                        </a:lnSpc>
                        <a:spcAft>
                          <a:spcPts val="800"/>
                        </a:spcAft>
                        <a:buNone/>
                      </a:pPr>
                      <a:r>
                        <a:rPr lang="en-ZA" sz="1500" kern="100" dirty="0">
                          <a:effectLst/>
                        </a:rPr>
                        <a:t>Final grade</a:t>
                      </a:r>
                      <a:endParaRPr lang="en-ZA"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tc>
                  <a:txBody>
                    <a:bodyPr/>
                    <a:lstStyle/>
                    <a:p>
                      <a:pPr algn="ctr">
                        <a:lnSpc>
                          <a:spcPct val="107000"/>
                        </a:lnSpc>
                        <a:spcAft>
                          <a:spcPts val="800"/>
                        </a:spcAft>
                        <a:buNone/>
                      </a:pPr>
                      <a:r>
                        <a:rPr lang="en-ZA" sz="1500" kern="100" dirty="0">
                          <a:effectLst/>
                        </a:rPr>
                        <a:t>Nominal</a:t>
                      </a:r>
                      <a:endParaRPr lang="en-ZA" sz="1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1489" marR="91489" marT="0" marB="0"/>
                </a:tc>
                <a:extLst>
                  <a:ext uri="{0D108BD9-81ED-4DB2-BD59-A6C34878D82A}">
                    <a16:rowId xmlns:a16="http://schemas.microsoft.com/office/drawing/2014/main" val="2961427437"/>
                  </a:ext>
                </a:extLst>
              </a:tr>
            </a:tbl>
          </a:graphicData>
        </a:graphic>
      </p:graphicFrame>
      <p:pic>
        <p:nvPicPr>
          <p:cNvPr id="9" name="Picture 8" descr="A screenshot of a computer">
            <a:extLst>
              <a:ext uri="{FF2B5EF4-FFF2-40B4-BE49-F238E27FC236}">
                <a16:creationId xmlns:a16="http://schemas.microsoft.com/office/drawing/2014/main" id="{1F37226E-2D3A-2B11-566C-4845430F1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938" y="2762487"/>
            <a:ext cx="4015229" cy="4095508"/>
          </a:xfrm>
          <a:prstGeom prst="rect">
            <a:avLst/>
          </a:prstGeom>
        </p:spPr>
      </p:pic>
      <p:pic>
        <p:nvPicPr>
          <p:cNvPr id="13" name="Picture 12" descr="A screenshot of a computer">
            <a:extLst>
              <a:ext uri="{FF2B5EF4-FFF2-40B4-BE49-F238E27FC236}">
                <a16:creationId xmlns:a16="http://schemas.microsoft.com/office/drawing/2014/main" id="{5D827049-BD4B-7C19-B94F-3D20EA9146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763" y="2906195"/>
            <a:ext cx="3229426" cy="3952106"/>
          </a:xfrm>
          <a:prstGeom prst="rect">
            <a:avLst/>
          </a:prstGeom>
        </p:spPr>
      </p:pic>
    </p:spTree>
    <p:extLst>
      <p:ext uri="{BB962C8B-B14F-4D97-AF65-F5344CB8AC3E}">
        <p14:creationId xmlns:p14="http://schemas.microsoft.com/office/powerpoint/2010/main" val="1067748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CFB9A-3C62-90E0-632E-033F2FB7332A}"/>
              </a:ext>
            </a:extLst>
          </p:cNvPr>
          <p:cNvSpPr>
            <a:spLocks noGrp="1"/>
          </p:cNvSpPr>
          <p:nvPr>
            <p:ph type="title"/>
          </p:nvPr>
        </p:nvSpPr>
        <p:spPr>
          <a:xfrm>
            <a:off x="521208" y="978408"/>
            <a:ext cx="11155680" cy="806849"/>
          </a:xfrm>
        </p:spPr>
        <p:txBody>
          <a:bodyPr/>
          <a:lstStyle/>
          <a:p>
            <a:r>
              <a:rPr lang="en-US" dirty="0"/>
              <a:t>Identifying relevant categorical variables</a:t>
            </a:r>
            <a:endParaRPr lang="en-ZA" dirty="0"/>
          </a:p>
        </p:txBody>
      </p:sp>
      <p:sp>
        <p:nvSpPr>
          <p:cNvPr id="3" name="Content Placeholder 2">
            <a:extLst>
              <a:ext uri="{FF2B5EF4-FFF2-40B4-BE49-F238E27FC236}">
                <a16:creationId xmlns:a16="http://schemas.microsoft.com/office/drawing/2014/main" id="{702D7060-76F1-27E2-941F-DF94F918BEFF}"/>
              </a:ext>
            </a:extLst>
          </p:cNvPr>
          <p:cNvSpPr>
            <a:spLocks noGrp="1"/>
          </p:cNvSpPr>
          <p:nvPr>
            <p:ph idx="1"/>
          </p:nvPr>
        </p:nvSpPr>
        <p:spPr>
          <a:xfrm>
            <a:off x="377371" y="1683657"/>
            <a:ext cx="11814629" cy="4662279"/>
          </a:xfrm>
        </p:spPr>
        <p:txBody>
          <a:bodyPr/>
          <a:lstStyle/>
          <a:p>
            <a:r>
              <a:rPr lang="en-ZA" dirty="0"/>
              <a:t>Using the one-way tables below, we find that the variables of; </a:t>
            </a:r>
            <a:r>
              <a:rPr lang="en-ZA" b="1" dirty="0"/>
              <a:t>gender, address, </a:t>
            </a:r>
            <a:r>
              <a:rPr lang="en-ZA" b="1" dirty="0" err="1"/>
              <a:t>famsize</a:t>
            </a:r>
            <a:r>
              <a:rPr lang="en-ZA" b="1" dirty="0"/>
              <a:t>, </a:t>
            </a:r>
            <a:r>
              <a:rPr lang="en-ZA" b="1" dirty="0" err="1"/>
              <a:t>Pstatus</a:t>
            </a:r>
            <a:r>
              <a:rPr lang="en-ZA" b="1" dirty="0"/>
              <a:t>, higher, internet </a:t>
            </a:r>
            <a:r>
              <a:rPr lang="en-ZA" dirty="0"/>
              <a:t>and </a:t>
            </a:r>
            <a:r>
              <a:rPr lang="en-ZA" b="1" dirty="0" err="1"/>
              <a:t>Final_grade</a:t>
            </a:r>
            <a:r>
              <a:rPr lang="en-ZA" b="1" dirty="0"/>
              <a:t>(Variable of interest)</a:t>
            </a:r>
            <a:r>
              <a:rPr lang="en-ZA" dirty="0"/>
              <a:t>, have 2 categories and therefore means that those are the variables with not many categories. The other variables have 5 and more categories.</a:t>
            </a:r>
          </a:p>
          <a:p>
            <a:endParaRPr lang="en-ZA" dirty="0"/>
          </a:p>
        </p:txBody>
      </p:sp>
      <p:pic>
        <p:nvPicPr>
          <p:cNvPr id="5" name="Picture 4" descr="A screenshot of a computer screen&#10;&#10;AI-generated content may be incorrect.">
            <a:extLst>
              <a:ext uri="{FF2B5EF4-FFF2-40B4-BE49-F238E27FC236}">
                <a16:creationId xmlns:a16="http://schemas.microsoft.com/office/drawing/2014/main" id="{46E0627A-FE59-831D-09EF-55356A6DC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12" y="2888343"/>
            <a:ext cx="2910259" cy="3602736"/>
          </a:xfrm>
          <a:prstGeom prst="rect">
            <a:avLst/>
          </a:prstGeom>
        </p:spPr>
      </p:pic>
      <p:pic>
        <p:nvPicPr>
          <p:cNvPr id="7" name="Picture 6" descr="A screenshot of a computer screen&#10;&#10;AI-generated content may be incorrect.">
            <a:extLst>
              <a:ext uri="{FF2B5EF4-FFF2-40B4-BE49-F238E27FC236}">
                <a16:creationId xmlns:a16="http://schemas.microsoft.com/office/drawing/2014/main" id="{31D87B29-149F-28F4-7897-A4CFC94E5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8268" y="3033486"/>
            <a:ext cx="2772229" cy="3457593"/>
          </a:xfrm>
          <a:prstGeom prst="rect">
            <a:avLst/>
          </a:prstGeom>
        </p:spPr>
      </p:pic>
      <p:pic>
        <p:nvPicPr>
          <p:cNvPr id="9" name="Picture 8" descr="A screenshot of a table&#10;&#10;AI-generated content may be incorrect.">
            <a:extLst>
              <a:ext uri="{FF2B5EF4-FFF2-40B4-BE49-F238E27FC236}">
                <a16:creationId xmlns:a16="http://schemas.microsoft.com/office/drawing/2014/main" id="{20444876-1998-167A-3BD5-5247140FF5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0497" y="2677886"/>
            <a:ext cx="2910259" cy="4023650"/>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955AF777-8127-4779-6C6D-B94EFC9D1A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5271" y="2643320"/>
            <a:ext cx="3115110" cy="4058216"/>
          </a:xfrm>
          <a:prstGeom prst="rect">
            <a:avLst/>
          </a:prstGeom>
        </p:spPr>
      </p:pic>
    </p:spTree>
    <p:extLst>
      <p:ext uri="{BB962C8B-B14F-4D97-AF65-F5344CB8AC3E}">
        <p14:creationId xmlns:p14="http://schemas.microsoft.com/office/powerpoint/2010/main" val="2593054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FFB8-4472-C604-CB1A-A827D293D24F}"/>
              </a:ext>
            </a:extLst>
          </p:cNvPr>
          <p:cNvSpPr>
            <a:spLocks noGrp="1"/>
          </p:cNvSpPr>
          <p:nvPr>
            <p:ph type="title"/>
          </p:nvPr>
        </p:nvSpPr>
        <p:spPr>
          <a:xfrm>
            <a:off x="362857" y="667658"/>
            <a:ext cx="11314031" cy="1335314"/>
          </a:xfrm>
        </p:spPr>
        <p:txBody>
          <a:bodyPr>
            <a:normAutofit fontScale="90000"/>
          </a:bodyPr>
          <a:lstStyle/>
          <a:p>
            <a:r>
              <a:rPr lang="en-US" dirty="0"/>
              <a:t>“Statistics: Turning confusion into tables since the 1800s.”</a:t>
            </a:r>
            <a:endParaRPr lang="en-ZA" dirty="0"/>
          </a:p>
        </p:txBody>
      </p:sp>
      <p:pic>
        <p:nvPicPr>
          <p:cNvPr id="5" name="Content Placeholder 4" descr="A person in a suit">
            <a:extLst>
              <a:ext uri="{FF2B5EF4-FFF2-40B4-BE49-F238E27FC236}">
                <a16:creationId xmlns:a16="http://schemas.microsoft.com/office/drawing/2014/main" id="{824BEFE9-B40B-AECE-6F11-6BE9346494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7028" y="2172908"/>
            <a:ext cx="5170034" cy="4017434"/>
          </a:xfrm>
        </p:spPr>
      </p:pic>
      <p:sp>
        <p:nvSpPr>
          <p:cNvPr id="6" name="TextBox 5">
            <a:extLst>
              <a:ext uri="{FF2B5EF4-FFF2-40B4-BE49-F238E27FC236}">
                <a16:creationId xmlns:a16="http://schemas.microsoft.com/office/drawing/2014/main" id="{8CF1354F-A35A-E1DB-30E9-86CE0F5268C6}"/>
              </a:ext>
            </a:extLst>
          </p:cNvPr>
          <p:cNvSpPr txBox="1"/>
          <p:nvPr/>
        </p:nvSpPr>
        <p:spPr>
          <a:xfrm>
            <a:off x="5979886" y="2438400"/>
            <a:ext cx="5576434" cy="954107"/>
          </a:xfrm>
          <a:prstGeom prst="rect">
            <a:avLst/>
          </a:prstGeom>
          <a:noFill/>
        </p:spPr>
        <p:txBody>
          <a:bodyPr wrap="square" rtlCol="0">
            <a:spAutoFit/>
          </a:bodyPr>
          <a:lstStyle/>
          <a:p>
            <a:r>
              <a:rPr lang="en-US" sz="2800" b="1" i="1" dirty="0"/>
              <a:t>“I invented regression, now you’ll use it to predict passing.”</a:t>
            </a:r>
            <a:endParaRPr lang="en-ZA" sz="2800" b="1" i="1" dirty="0"/>
          </a:p>
        </p:txBody>
      </p:sp>
    </p:spTree>
    <p:extLst>
      <p:ext uri="{BB962C8B-B14F-4D97-AF65-F5344CB8AC3E}">
        <p14:creationId xmlns:p14="http://schemas.microsoft.com/office/powerpoint/2010/main" val="318029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8174B-0A0C-7747-2A08-E348DD3478B9}"/>
              </a:ext>
            </a:extLst>
          </p:cNvPr>
          <p:cNvSpPr>
            <a:spLocks noGrp="1"/>
          </p:cNvSpPr>
          <p:nvPr>
            <p:ph type="title"/>
          </p:nvPr>
        </p:nvSpPr>
        <p:spPr>
          <a:xfrm>
            <a:off x="521207" y="512064"/>
            <a:ext cx="11155680" cy="2066544"/>
          </a:xfrm>
        </p:spPr>
        <p:txBody>
          <a:bodyPr>
            <a:normAutofit fontScale="90000"/>
          </a:bodyPr>
          <a:lstStyle/>
          <a:p>
            <a:r>
              <a:rPr lang="en-ZA" dirty="0"/>
              <a:t>Two-way test of association for each of the relevant categorical explanatory variables and the response of interest.</a:t>
            </a:r>
          </a:p>
        </p:txBody>
      </p:sp>
      <p:sp>
        <p:nvSpPr>
          <p:cNvPr id="3" name="Content Placeholder 2">
            <a:extLst>
              <a:ext uri="{FF2B5EF4-FFF2-40B4-BE49-F238E27FC236}">
                <a16:creationId xmlns:a16="http://schemas.microsoft.com/office/drawing/2014/main" id="{A9238869-CD1E-924D-703A-234D3651473A}"/>
              </a:ext>
            </a:extLst>
          </p:cNvPr>
          <p:cNvSpPr>
            <a:spLocks noGrp="1"/>
          </p:cNvSpPr>
          <p:nvPr>
            <p:ph idx="1"/>
          </p:nvPr>
        </p:nvSpPr>
        <p:spPr>
          <a:xfrm>
            <a:off x="515112" y="2578608"/>
            <a:ext cx="11161775" cy="2327221"/>
          </a:xfrm>
        </p:spPr>
        <p:txBody>
          <a:bodyPr>
            <a:normAutofit fontScale="85000" lnSpcReduction="20000"/>
          </a:bodyPr>
          <a:lstStyle/>
          <a:p>
            <a:r>
              <a:rPr lang="en-US" dirty="0"/>
              <a:t>Gender:</a:t>
            </a:r>
          </a:p>
          <a:p>
            <a:pPr marL="0" indent="0">
              <a:buNone/>
            </a:pPr>
            <a:r>
              <a:rPr lang="en-US" dirty="0"/>
              <a:t>                </a:t>
            </a:r>
            <a:r>
              <a:rPr lang="en-ZA" b="1" dirty="0"/>
              <a:t>H₀ (Null Hypothesis):</a:t>
            </a:r>
            <a:r>
              <a:rPr lang="en-ZA" dirty="0"/>
              <a:t> There is no association between the gender variable and the final grade.</a:t>
            </a:r>
          </a:p>
          <a:p>
            <a:pPr marL="0" indent="0">
              <a:buNone/>
            </a:pPr>
            <a:r>
              <a:rPr lang="en-ZA" b="1" dirty="0"/>
              <a:t>              H₁ (Alternative Hypothesis):</a:t>
            </a:r>
            <a:r>
              <a:rPr lang="en-ZA" dirty="0"/>
              <a:t> There is an association between the gender variable and the final grade.</a:t>
            </a:r>
          </a:p>
          <a:p>
            <a:pPr marL="0" indent="0">
              <a:buNone/>
            </a:pPr>
            <a:r>
              <a:rPr lang="en-ZA" b="1" dirty="0"/>
              <a:t>              Significance Level (α):</a:t>
            </a:r>
            <a:r>
              <a:rPr lang="en-ZA" dirty="0"/>
              <a:t> 0.05</a:t>
            </a:r>
          </a:p>
          <a:p>
            <a:pPr marL="0" lvl="0" indent="0">
              <a:buNone/>
            </a:pPr>
            <a:r>
              <a:rPr lang="en-ZA" b="1" dirty="0"/>
              <a:t>              Conclusion:</a:t>
            </a:r>
            <a:r>
              <a:rPr lang="en-ZA" dirty="0"/>
              <a:t> Since </a:t>
            </a:r>
            <a:r>
              <a:rPr lang="en-ZA" b="1" dirty="0"/>
              <a:t>the p-value (0.0133) is less than 0.05</a:t>
            </a:r>
            <a:r>
              <a:rPr lang="en-ZA" dirty="0"/>
              <a:t>, we </a:t>
            </a:r>
            <a:r>
              <a:rPr lang="en-ZA" b="1" dirty="0"/>
              <a:t>reject the null hypothesis</a:t>
            </a:r>
            <a:r>
              <a:rPr lang="en-ZA" dirty="0"/>
              <a:t>. There’s a</a:t>
            </a:r>
          </a:p>
          <a:p>
            <a:pPr marL="0" lvl="0" indent="0">
              <a:buNone/>
            </a:pPr>
            <a:r>
              <a:rPr lang="en-ZA" b="1" dirty="0"/>
              <a:t>              significant association </a:t>
            </a:r>
            <a:r>
              <a:rPr lang="en-ZA" dirty="0"/>
              <a:t>between gender and final grade. It concludes that male students have a higher  </a:t>
            </a:r>
          </a:p>
          <a:p>
            <a:pPr marL="0" lvl="0" indent="0">
              <a:buNone/>
            </a:pPr>
            <a:r>
              <a:rPr lang="en-ZA" dirty="0"/>
              <a:t>               failures compared to female students.</a:t>
            </a:r>
          </a:p>
          <a:p>
            <a:pPr marL="0" lvl="0" indent="0">
              <a:buNone/>
            </a:pPr>
            <a:endParaRPr lang="en-ZA" dirty="0"/>
          </a:p>
          <a:p>
            <a:pPr marL="0" indent="0">
              <a:buNone/>
            </a:pPr>
            <a:endParaRPr lang="en-ZA" dirty="0"/>
          </a:p>
        </p:txBody>
      </p:sp>
      <p:pic>
        <p:nvPicPr>
          <p:cNvPr id="8" name="Picture 7" descr="A screenshot of a table of statistics&#10;&#10;AI-generated content may be incorrect.">
            <a:extLst>
              <a:ext uri="{FF2B5EF4-FFF2-40B4-BE49-F238E27FC236}">
                <a16:creationId xmlns:a16="http://schemas.microsoft.com/office/drawing/2014/main" id="{ECF3C7CB-7C7F-B202-039E-B62FB202FB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0971" y="4775201"/>
            <a:ext cx="3766600" cy="1834171"/>
          </a:xfrm>
          <a:prstGeom prst="rect">
            <a:avLst/>
          </a:prstGeom>
        </p:spPr>
      </p:pic>
    </p:spTree>
    <p:extLst>
      <p:ext uri="{BB962C8B-B14F-4D97-AF65-F5344CB8AC3E}">
        <p14:creationId xmlns:p14="http://schemas.microsoft.com/office/powerpoint/2010/main" val="2066799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2CD0D193-B981-FE7D-7D46-D739C7E5B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4435763-D116-E6B0-3992-6801EF0F0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1230" y="508090"/>
            <a:ext cx="71323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C44E6AA-62C0-427D-AFD8-3CD8BCEDBF2F}"/>
              </a:ext>
            </a:extLst>
          </p:cNvPr>
          <p:cNvSpPr txBox="1"/>
          <p:nvPr/>
        </p:nvSpPr>
        <p:spPr>
          <a:xfrm>
            <a:off x="4151086" y="1165459"/>
            <a:ext cx="7516658" cy="5180477"/>
          </a:xfrm>
          <a:prstGeom prst="rect">
            <a:avLst/>
          </a:prstGeom>
        </p:spPr>
        <p:txBody>
          <a:bodyPr vert="horz" lIns="91440" tIns="45720" rIns="91440" bIns="45720" rtlCol="0">
            <a:normAutofit/>
          </a:bodyPr>
          <a:lstStyle/>
          <a:p>
            <a:pPr indent="-228600">
              <a:spcAft>
                <a:spcPts val="600"/>
              </a:spcAft>
              <a:buFont typeface="Arial" panose="020B0604020202020204" pitchFamily="34" charset="0"/>
              <a:buChar char="•"/>
            </a:pPr>
            <a:r>
              <a:rPr lang="en-US" sz="1400" b="1" u="sng" dirty="0"/>
              <a:t>ADDRESS :</a:t>
            </a:r>
            <a:endParaRPr lang="en-US" sz="1400" b="1" dirty="0"/>
          </a:p>
          <a:p>
            <a:pPr>
              <a:spcAft>
                <a:spcPts val="600"/>
              </a:spcAft>
            </a:pPr>
            <a:r>
              <a:rPr lang="en-US" sz="1200" b="1" dirty="0"/>
              <a:t>                  H₀ (Null Hypothesis):</a:t>
            </a:r>
            <a:r>
              <a:rPr lang="en-US" sz="1200" dirty="0"/>
              <a:t> There is no association between the address variable and the final grade.</a:t>
            </a:r>
          </a:p>
          <a:p>
            <a:pPr>
              <a:spcAft>
                <a:spcPts val="600"/>
              </a:spcAft>
            </a:pPr>
            <a:r>
              <a:rPr lang="en-US" sz="1200" b="1" dirty="0"/>
              <a:t>                  H₁ (Alternative Hypothesis):</a:t>
            </a:r>
            <a:r>
              <a:rPr lang="en-US" sz="1200" dirty="0"/>
              <a:t> There is an association between the address variable and the final</a:t>
            </a:r>
          </a:p>
          <a:p>
            <a:pPr>
              <a:spcAft>
                <a:spcPts val="600"/>
              </a:spcAft>
            </a:pPr>
            <a:r>
              <a:rPr lang="en-US" sz="1200" dirty="0"/>
              <a:t>                    grade.</a:t>
            </a:r>
          </a:p>
          <a:p>
            <a:pPr>
              <a:spcAft>
                <a:spcPts val="600"/>
              </a:spcAft>
            </a:pPr>
            <a:r>
              <a:rPr lang="en-US" sz="1200" b="1" dirty="0"/>
              <a:t>                  Significance Level (α):</a:t>
            </a:r>
            <a:r>
              <a:rPr lang="en-US" sz="1200" dirty="0"/>
              <a:t> 0.05</a:t>
            </a:r>
          </a:p>
          <a:p>
            <a:pPr>
              <a:spcAft>
                <a:spcPts val="600"/>
              </a:spcAft>
            </a:pPr>
            <a:r>
              <a:rPr lang="en-US" sz="1200" b="1" dirty="0"/>
              <a:t>                 Conclusion:</a:t>
            </a:r>
            <a:r>
              <a:rPr lang="en-US" sz="1200" dirty="0"/>
              <a:t> Since the </a:t>
            </a:r>
            <a:r>
              <a:rPr lang="en-US" sz="1200" b="1" dirty="0"/>
              <a:t>p-value (0.0002) is less than 0.05</a:t>
            </a:r>
            <a:r>
              <a:rPr lang="en-US" sz="1200" dirty="0"/>
              <a:t>, we </a:t>
            </a:r>
            <a:r>
              <a:rPr lang="en-US" sz="1200" b="1" dirty="0"/>
              <a:t>reject the null hypothesis.</a:t>
            </a:r>
            <a:r>
              <a:rPr lang="en-US" sz="1200" dirty="0"/>
              <a:t> </a:t>
            </a:r>
            <a:r>
              <a:rPr lang="en-US" sz="1200" b="1" dirty="0"/>
              <a:t>There is a   </a:t>
            </a:r>
          </a:p>
          <a:p>
            <a:pPr>
              <a:spcAft>
                <a:spcPts val="600"/>
              </a:spcAft>
            </a:pPr>
            <a:r>
              <a:rPr lang="en-US" sz="1200" b="1" dirty="0"/>
              <a:t>                 significant association</a:t>
            </a:r>
            <a:r>
              <a:rPr lang="en-US" sz="1200" dirty="0"/>
              <a:t> between the address type and final grade. It shows that the proportion of</a:t>
            </a:r>
          </a:p>
          <a:p>
            <a:pPr>
              <a:spcAft>
                <a:spcPts val="600"/>
              </a:spcAft>
            </a:pPr>
            <a:r>
              <a:rPr lang="en-US" sz="1200" dirty="0"/>
              <a:t>                   urban students have a higher final grade compared to rural students.</a:t>
            </a:r>
          </a:p>
          <a:p>
            <a:pPr indent="-228600">
              <a:spcAft>
                <a:spcPts val="600"/>
              </a:spcAft>
              <a:buFont typeface="Arial" panose="020B0604020202020204" pitchFamily="34" charset="0"/>
              <a:buChar char="•"/>
            </a:pPr>
            <a:r>
              <a:rPr lang="en-US" sz="1400" b="1" u="sng" dirty="0"/>
              <a:t>FAMSIZE :</a:t>
            </a:r>
            <a:endParaRPr lang="en-US" sz="1400" b="1" dirty="0"/>
          </a:p>
          <a:p>
            <a:pPr marL="228600" lvl="1">
              <a:spcAft>
                <a:spcPts val="600"/>
              </a:spcAft>
            </a:pPr>
            <a:r>
              <a:rPr lang="en-US" sz="1200" b="1" dirty="0"/>
              <a:t>          H₀ (Null Hypothesis):</a:t>
            </a:r>
            <a:r>
              <a:rPr lang="en-US" sz="1200" dirty="0"/>
              <a:t> There is no association between the </a:t>
            </a:r>
            <a:r>
              <a:rPr lang="en-US" sz="1200" dirty="0" err="1"/>
              <a:t>famsize</a:t>
            </a:r>
            <a:r>
              <a:rPr lang="en-US" sz="1200" dirty="0"/>
              <a:t> variable and the final grade.</a:t>
            </a:r>
          </a:p>
          <a:p>
            <a:pPr marL="228600" lvl="1">
              <a:spcAft>
                <a:spcPts val="600"/>
              </a:spcAft>
            </a:pPr>
            <a:r>
              <a:rPr lang="en-US" sz="1200" b="1" dirty="0"/>
              <a:t>          H₁ (Alternative Hypothesis):</a:t>
            </a:r>
            <a:r>
              <a:rPr lang="en-US" sz="1200" dirty="0"/>
              <a:t> There is an association between the </a:t>
            </a:r>
            <a:r>
              <a:rPr lang="en-US" sz="1200" dirty="0" err="1"/>
              <a:t>famsize</a:t>
            </a:r>
            <a:r>
              <a:rPr lang="en-US" sz="1200" dirty="0"/>
              <a:t> variable and the final  </a:t>
            </a:r>
          </a:p>
          <a:p>
            <a:pPr marL="228600" lvl="1">
              <a:spcAft>
                <a:spcPts val="600"/>
              </a:spcAft>
            </a:pPr>
            <a:r>
              <a:rPr lang="en-US" sz="1200" dirty="0"/>
              <a:t>           grade.</a:t>
            </a:r>
          </a:p>
          <a:p>
            <a:pPr>
              <a:spcAft>
                <a:spcPts val="600"/>
              </a:spcAft>
            </a:pPr>
            <a:r>
              <a:rPr lang="en-US" sz="1200" b="1" dirty="0"/>
              <a:t>               Significance Level (α):</a:t>
            </a:r>
            <a:r>
              <a:rPr lang="en-US" sz="1200" dirty="0"/>
              <a:t> 0.05</a:t>
            </a:r>
          </a:p>
          <a:p>
            <a:pPr>
              <a:spcAft>
                <a:spcPts val="600"/>
              </a:spcAft>
            </a:pPr>
            <a:r>
              <a:rPr lang="en-US" sz="1200" b="1" dirty="0"/>
              <a:t>              Conclusion: </a:t>
            </a:r>
            <a:r>
              <a:rPr lang="en-US" sz="1200" dirty="0"/>
              <a:t>Since the </a:t>
            </a:r>
            <a:r>
              <a:rPr lang="en-US" sz="1200" b="1" dirty="0"/>
              <a:t>p-value (0.8107) is more than 0.05</a:t>
            </a:r>
            <a:r>
              <a:rPr lang="en-US" sz="1200" dirty="0"/>
              <a:t>, we </a:t>
            </a:r>
            <a:r>
              <a:rPr lang="en-US" sz="1200" b="1" dirty="0"/>
              <a:t>do not reject the null hypothesis</a:t>
            </a:r>
            <a:r>
              <a:rPr lang="en-US" sz="1200" dirty="0"/>
              <a:t>.  </a:t>
            </a:r>
          </a:p>
          <a:p>
            <a:pPr>
              <a:spcAft>
                <a:spcPts val="600"/>
              </a:spcAft>
            </a:pPr>
            <a:r>
              <a:rPr lang="en-US" sz="1200" b="1" dirty="0"/>
              <a:t>              There isn’t a significant association </a:t>
            </a:r>
            <a:r>
              <a:rPr lang="en-US" sz="1200" dirty="0"/>
              <a:t>between the </a:t>
            </a:r>
            <a:r>
              <a:rPr lang="en-US" sz="1200" dirty="0" err="1"/>
              <a:t>famsize</a:t>
            </a:r>
            <a:r>
              <a:rPr lang="en-US" sz="1200" dirty="0"/>
              <a:t> and final grade. It shows that the pass rate</a:t>
            </a:r>
          </a:p>
          <a:p>
            <a:pPr>
              <a:spcAft>
                <a:spcPts val="600"/>
              </a:spcAft>
            </a:pPr>
            <a:r>
              <a:rPr lang="en-US" sz="1200" dirty="0"/>
              <a:t>                 of students who have 3&gt; had a pass rate of 70.31% and students with a family size of 3&lt; had a pass</a:t>
            </a:r>
          </a:p>
          <a:p>
            <a:pPr>
              <a:spcAft>
                <a:spcPts val="600"/>
              </a:spcAft>
            </a:pPr>
            <a:r>
              <a:rPr lang="en-US" sz="1200" dirty="0"/>
              <a:t>                rate of 69.37%, which only has a small difference.</a:t>
            </a:r>
          </a:p>
          <a:p>
            <a:pPr indent="-228600">
              <a:spcAft>
                <a:spcPts val="600"/>
              </a:spcAft>
              <a:buFont typeface="Arial" panose="020B0604020202020204" pitchFamily="34" charset="0"/>
              <a:buChar char="•"/>
            </a:pPr>
            <a:endParaRPr lang="en-US" sz="1100" dirty="0"/>
          </a:p>
        </p:txBody>
      </p:sp>
      <p:pic>
        <p:nvPicPr>
          <p:cNvPr id="8" name="Picture 7" descr="A screenshot of a data sheet&#10;&#10;AI-generated content may be incorrect.">
            <a:extLst>
              <a:ext uri="{FF2B5EF4-FFF2-40B4-BE49-F238E27FC236}">
                <a16:creationId xmlns:a16="http://schemas.microsoft.com/office/drawing/2014/main" id="{C2367457-174E-D318-71BD-8ADCD6459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699" y="657369"/>
            <a:ext cx="3281773" cy="2640906"/>
          </a:xfrm>
          <a:prstGeom prst="rect">
            <a:avLst/>
          </a:prstGeom>
        </p:spPr>
      </p:pic>
      <p:pic>
        <p:nvPicPr>
          <p:cNvPr id="10" name="Picture 9" descr="A table of statistics for a group of individuals">
            <a:extLst>
              <a:ext uri="{FF2B5EF4-FFF2-40B4-BE49-F238E27FC236}">
                <a16:creationId xmlns:a16="http://schemas.microsoft.com/office/drawing/2014/main" id="{9444B13A-E0C0-C266-E065-C6A8819B6C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69" y="3559725"/>
            <a:ext cx="3281773" cy="2463704"/>
          </a:xfrm>
          <a:prstGeom prst="rect">
            <a:avLst/>
          </a:prstGeom>
        </p:spPr>
      </p:pic>
    </p:spTree>
    <p:extLst>
      <p:ext uri="{BB962C8B-B14F-4D97-AF65-F5344CB8AC3E}">
        <p14:creationId xmlns:p14="http://schemas.microsoft.com/office/powerpoint/2010/main" val="798946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D67B2F-ABC8-4461-3FF9-2F1FE5FC270A}"/>
              </a:ext>
            </a:extLst>
          </p:cNvPr>
          <p:cNvSpPr txBox="1"/>
          <p:nvPr/>
        </p:nvSpPr>
        <p:spPr>
          <a:xfrm>
            <a:off x="3497943" y="98673"/>
            <a:ext cx="8694057" cy="4985980"/>
          </a:xfrm>
          <a:prstGeom prst="rect">
            <a:avLst/>
          </a:prstGeom>
          <a:noFill/>
        </p:spPr>
        <p:txBody>
          <a:bodyPr wrap="square" rtlCol="0">
            <a:spAutoFit/>
          </a:bodyPr>
          <a:lstStyle/>
          <a:p>
            <a:r>
              <a:rPr lang="en-ZA" sz="1400" b="1" u="sng" dirty="0"/>
              <a:t>PSTATUS :</a:t>
            </a:r>
            <a:endParaRPr lang="en-ZA" sz="1400" b="1" dirty="0"/>
          </a:p>
          <a:p>
            <a:r>
              <a:rPr lang="en-ZA" sz="1200" b="1" dirty="0"/>
              <a:t>              H₀ (Null Hypothesis):</a:t>
            </a:r>
            <a:r>
              <a:rPr lang="en-ZA" sz="1200" dirty="0"/>
              <a:t> There is no association between the </a:t>
            </a:r>
            <a:r>
              <a:rPr lang="en-ZA" sz="1200" dirty="0" err="1"/>
              <a:t>pstatus</a:t>
            </a:r>
            <a:r>
              <a:rPr lang="en-ZA" sz="1200" dirty="0"/>
              <a:t> variable and the final grade.</a:t>
            </a:r>
          </a:p>
          <a:p>
            <a:endParaRPr lang="en-ZA" sz="1200" dirty="0"/>
          </a:p>
          <a:p>
            <a:r>
              <a:rPr lang="en-ZA" sz="1200" b="1" dirty="0"/>
              <a:t>              H₁ (Alternative Hypothesis):</a:t>
            </a:r>
            <a:r>
              <a:rPr lang="en-ZA" sz="1200" dirty="0"/>
              <a:t> There is an association between the </a:t>
            </a:r>
            <a:r>
              <a:rPr lang="en-ZA" sz="1200" dirty="0" err="1"/>
              <a:t>pstatus</a:t>
            </a:r>
            <a:r>
              <a:rPr lang="en-ZA" sz="1200" dirty="0"/>
              <a:t> variable and the final grade.</a:t>
            </a:r>
          </a:p>
          <a:p>
            <a:endParaRPr lang="en-ZA" sz="1200" dirty="0"/>
          </a:p>
          <a:p>
            <a:r>
              <a:rPr lang="en-ZA" sz="1200" b="1" dirty="0"/>
              <a:t>              Significance Level (α):</a:t>
            </a:r>
            <a:r>
              <a:rPr lang="en-ZA" sz="1200" dirty="0"/>
              <a:t> 0.05</a:t>
            </a:r>
          </a:p>
          <a:p>
            <a:endParaRPr lang="en-ZA" sz="1200" dirty="0"/>
          </a:p>
          <a:p>
            <a:r>
              <a:rPr lang="en-ZA" sz="1200" b="1" dirty="0"/>
              <a:t>              Conclusion:</a:t>
            </a:r>
            <a:r>
              <a:rPr lang="en-ZA" sz="1200" dirty="0"/>
              <a:t> Since the p-value (0.9413) is more than 0.05, we </a:t>
            </a:r>
            <a:r>
              <a:rPr lang="en-ZA" sz="1200" b="1" dirty="0"/>
              <a:t>do not reject the null hypothesis.</a:t>
            </a:r>
            <a:r>
              <a:rPr lang="en-ZA" sz="1200" dirty="0"/>
              <a:t> </a:t>
            </a:r>
            <a:r>
              <a:rPr lang="en-ZA" sz="1200" b="1" dirty="0"/>
              <a:t>There isn’t a   </a:t>
            </a:r>
          </a:p>
          <a:p>
            <a:r>
              <a:rPr lang="en-ZA" sz="1200" b="1" dirty="0"/>
              <a:t>              significant association </a:t>
            </a:r>
            <a:r>
              <a:rPr lang="en-ZA" sz="1200" dirty="0"/>
              <a:t>between the </a:t>
            </a:r>
            <a:r>
              <a:rPr lang="en-ZA" sz="1200" dirty="0" err="1"/>
              <a:t>pstatus</a:t>
            </a:r>
            <a:r>
              <a:rPr lang="en-ZA" sz="1200" dirty="0"/>
              <a:t> and final grade. It shows that the pass rate with parents living apart (70%)  </a:t>
            </a:r>
          </a:p>
          <a:p>
            <a:r>
              <a:rPr lang="en-ZA" sz="1200" dirty="0"/>
              <a:t>                and those with parents living together (69.9%) has a very small difference.</a:t>
            </a:r>
          </a:p>
          <a:p>
            <a:endParaRPr lang="en-ZA" sz="1200" dirty="0"/>
          </a:p>
          <a:p>
            <a:r>
              <a:rPr lang="en-ZA" sz="1400" b="1" u="sng" dirty="0"/>
              <a:t>HIGHER :</a:t>
            </a:r>
          </a:p>
          <a:p>
            <a:endParaRPr lang="en-ZA" sz="1400" b="1" dirty="0"/>
          </a:p>
          <a:p>
            <a:r>
              <a:rPr lang="en-ZA" sz="1200" b="1" dirty="0"/>
              <a:t>               H₀ (Null Hypothesis):</a:t>
            </a:r>
            <a:r>
              <a:rPr lang="en-ZA" sz="1200" dirty="0"/>
              <a:t> There is no association between the higher variable and the final grade.</a:t>
            </a:r>
          </a:p>
          <a:p>
            <a:endParaRPr lang="en-ZA" sz="1200" dirty="0"/>
          </a:p>
          <a:p>
            <a:r>
              <a:rPr lang="en-ZA" sz="1200" b="1" dirty="0"/>
              <a:t>               H₁ (Alternative Hypothesis):</a:t>
            </a:r>
            <a:r>
              <a:rPr lang="en-ZA" sz="1200" dirty="0"/>
              <a:t> There is an association between the higher variable and the final grade.</a:t>
            </a:r>
          </a:p>
          <a:p>
            <a:endParaRPr lang="en-ZA" sz="1200" dirty="0"/>
          </a:p>
          <a:p>
            <a:r>
              <a:rPr lang="en-ZA" sz="1200" b="1" dirty="0"/>
              <a:t>               Significance Level (α):</a:t>
            </a:r>
            <a:r>
              <a:rPr lang="en-ZA" sz="1200" dirty="0"/>
              <a:t> 0.05</a:t>
            </a:r>
          </a:p>
          <a:p>
            <a:endParaRPr lang="en-ZA" sz="1200" dirty="0"/>
          </a:p>
          <a:p>
            <a:r>
              <a:rPr lang="en-ZA" sz="1200" b="1" dirty="0"/>
              <a:t>               Conclusion:</a:t>
            </a:r>
            <a:r>
              <a:rPr lang="en-ZA" sz="1200" dirty="0"/>
              <a:t> Since the p-value (&lt;0.0001) is less than 0.05, we </a:t>
            </a:r>
            <a:r>
              <a:rPr lang="en-ZA" sz="1200" b="1" dirty="0"/>
              <a:t>reject the null hypothesis. There is a significant</a:t>
            </a:r>
          </a:p>
          <a:p>
            <a:r>
              <a:rPr lang="en-ZA" sz="1200" b="1" dirty="0"/>
              <a:t>                association </a:t>
            </a:r>
            <a:r>
              <a:rPr lang="en-ZA" sz="1200" dirty="0"/>
              <a:t>between higher and final grade. It shows that students with no intention of furthering their education had a</a:t>
            </a:r>
          </a:p>
          <a:p>
            <a:r>
              <a:rPr lang="en-ZA" sz="1200" dirty="0"/>
              <a:t>                 high failure rate (only 24.64% pass rate) and students with the intention of furthering their education had a higher pass</a:t>
            </a:r>
          </a:p>
          <a:p>
            <a:r>
              <a:rPr lang="en-ZA" sz="1200" dirty="0"/>
              <a:t>                 rate (75%).</a:t>
            </a:r>
          </a:p>
          <a:p>
            <a:r>
              <a:rPr lang="en-ZA" b="1" dirty="0"/>
              <a:t> </a:t>
            </a:r>
            <a:endParaRPr lang="en-ZA" dirty="0"/>
          </a:p>
          <a:p>
            <a:endParaRPr lang="en-ZA" dirty="0"/>
          </a:p>
        </p:txBody>
      </p:sp>
      <p:pic>
        <p:nvPicPr>
          <p:cNvPr id="4" name="Picture 3" descr="A table of statistics for table of statistics">
            <a:extLst>
              <a:ext uri="{FF2B5EF4-FFF2-40B4-BE49-F238E27FC236}">
                <a16:creationId xmlns:a16="http://schemas.microsoft.com/office/drawing/2014/main" id="{0B94571B-84F0-162E-071E-7477BD910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72" y="98673"/>
            <a:ext cx="2619741" cy="2238127"/>
          </a:xfrm>
          <a:prstGeom prst="rect">
            <a:avLst/>
          </a:prstGeom>
        </p:spPr>
      </p:pic>
      <p:pic>
        <p:nvPicPr>
          <p:cNvPr id="6" name="Picture 5" descr="A screenshot of a table&#10;&#10;AI-generated content may be incorrect.">
            <a:extLst>
              <a:ext uri="{FF2B5EF4-FFF2-40B4-BE49-F238E27FC236}">
                <a16:creationId xmlns:a16="http://schemas.microsoft.com/office/drawing/2014/main" id="{6FC4167F-F7EB-5372-B6BF-1091813CED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357" y="2710529"/>
            <a:ext cx="2667372" cy="2374124"/>
          </a:xfrm>
          <a:prstGeom prst="rect">
            <a:avLst/>
          </a:prstGeom>
        </p:spPr>
      </p:pic>
    </p:spTree>
    <p:extLst>
      <p:ext uri="{BB962C8B-B14F-4D97-AF65-F5344CB8AC3E}">
        <p14:creationId xmlns:p14="http://schemas.microsoft.com/office/powerpoint/2010/main" val="2971548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130174-32BD-63F1-7C5C-EB3DF79B2F62}"/>
              </a:ext>
            </a:extLst>
          </p:cNvPr>
          <p:cNvSpPr txBox="1"/>
          <p:nvPr/>
        </p:nvSpPr>
        <p:spPr>
          <a:xfrm>
            <a:off x="4223657" y="275772"/>
            <a:ext cx="7866743" cy="4862870"/>
          </a:xfrm>
          <a:prstGeom prst="rect">
            <a:avLst/>
          </a:prstGeom>
          <a:noFill/>
        </p:spPr>
        <p:txBody>
          <a:bodyPr wrap="square" rtlCol="0">
            <a:spAutoFit/>
          </a:bodyPr>
          <a:lstStyle/>
          <a:p>
            <a:r>
              <a:rPr lang="en-ZA" sz="2000" b="1" u="sng" dirty="0"/>
              <a:t>           INTERNET :</a:t>
            </a:r>
          </a:p>
          <a:p>
            <a:endParaRPr lang="en-ZA" sz="2000" b="1" dirty="0"/>
          </a:p>
          <a:p>
            <a:r>
              <a:rPr lang="en-ZA" b="1" dirty="0"/>
              <a:t>            H₀ (Null Hypothesis):</a:t>
            </a:r>
            <a:r>
              <a:rPr lang="en-ZA" dirty="0"/>
              <a:t> There is no association between the internet </a:t>
            </a:r>
          </a:p>
          <a:p>
            <a:r>
              <a:rPr lang="en-ZA" dirty="0"/>
              <a:t>             variable and the final grade.</a:t>
            </a:r>
          </a:p>
          <a:p>
            <a:r>
              <a:rPr lang="en-ZA" dirty="0"/>
              <a:t>  </a:t>
            </a:r>
          </a:p>
          <a:p>
            <a:r>
              <a:rPr lang="en-ZA" b="1" dirty="0"/>
              <a:t>            H₁ (Alternative Hypothesis):</a:t>
            </a:r>
            <a:r>
              <a:rPr lang="en-ZA" dirty="0"/>
              <a:t> There is an association between the</a:t>
            </a:r>
          </a:p>
          <a:p>
            <a:r>
              <a:rPr lang="en-ZA" dirty="0"/>
              <a:t>             internet variable and the final grade.</a:t>
            </a:r>
          </a:p>
          <a:p>
            <a:r>
              <a:rPr lang="en-ZA" dirty="0"/>
              <a:t>  </a:t>
            </a:r>
          </a:p>
          <a:p>
            <a:r>
              <a:rPr lang="en-ZA" b="1" dirty="0"/>
              <a:t>           Significance Level (α):</a:t>
            </a:r>
            <a:r>
              <a:rPr lang="en-ZA" dirty="0"/>
              <a:t> 0.05</a:t>
            </a:r>
          </a:p>
          <a:p>
            <a:r>
              <a:rPr lang="en-ZA" dirty="0"/>
              <a:t> </a:t>
            </a:r>
          </a:p>
          <a:p>
            <a:r>
              <a:rPr lang="en-ZA" b="1" dirty="0"/>
              <a:t>            Conclusion:</a:t>
            </a:r>
            <a:r>
              <a:rPr lang="en-ZA" dirty="0"/>
              <a:t> Since the </a:t>
            </a:r>
            <a:r>
              <a:rPr lang="en-ZA" b="1" dirty="0"/>
              <a:t>p-value (0.0022) is less than 0.05</a:t>
            </a:r>
            <a:r>
              <a:rPr lang="en-ZA" dirty="0"/>
              <a:t>, we </a:t>
            </a:r>
            <a:r>
              <a:rPr lang="en-ZA" b="1" dirty="0"/>
              <a:t>reject  </a:t>
            </a:r>
          </a:p>
          <a:p>
            <a:r>
              <a:rPr lang="en-ZA" b="1" dirty="0"/>
              <a:t>            the null hypothesis. There is a significant association</a:t>
            </a:r>
            <a:r>
              <a:rPr lang="en-ZA" dirty="0"/>
              <a:t> between</a:t>
            </a:r>
          </a:p>
          <a:p>
            <a:r>
              <a:rPr lang="en-ZA" dirty="0"/>
              <a:t>             having access to internet at home and a student’s final grade. It shows</a:t>
            </a:r>
          </a:p>
          <a:p>
            <a:r>
              <a:rPr lang="en-ZA" dirty="0"/>
              <a:t>             that students with no access to internet at home have a pass rate of</a:t>
            </a:r>
          </a:p>
          <a:p>
            <a:r>
              <a:rPr lang="en-ZA" dirty="0"/>
              <a:t>             59.6% and students with access to</a:t>
            </a:r>
          </a:p>
          <a:p>
            <a:r>
              <a:rPr lang="en-ZA" dirty="0"/>
              <a:t>             internet at home have a pass rate of 72.69%.</a:t>
            </a:r>
          </a:p>
          <a:p>
            <a:r>
              <a:rPr lang="en-ZA" b="1" dirty="0"/>
              <a:t> </a:t>
            </a:r>
            <a:endParaRPr lang="en-ZA" dirty="0"/>
          </a:p>
        </p:txBody>
      </p:sp>
      <p:pic>
        <p:nvPicPr>
          <p:cNvPr id="4" name="Picture 3" descr="A table of statistics for a table of internet&#10;&#10;AI-generated content may be incorrect.">
            <a:extLst>
              <a:ext uri="{FF2B5EF4-FFF2-40B4-BE49-F238E27FC236}">
                <a16:creationId xmlns:a16="http://schemas.microsoft.com/office/drawing/2014/main" id="{37C1B099-13F4-1E16-71ED-C55A0B396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429072"/>
            <a:ext cx="4122057" cy="3315613"/>
          </a:xfrm>
          <a:prstGeom prst="rect">
            <a:avLst/>
          </a:prstGeom>
        </p:spPr>
      </p:pic>
    </p:spTree>
    <p:extLst>
      <p:ext uri="{BB962C8B-B14F-4D97-AF65-F5344CB8AC3E}">
        <p14:creationId xmlns:p14="http://schemas.microsoft.com/office/powerpoint/2010/main" val="4120290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8BAD-44B8-735D-28CA-33875C879C7D}"/>
              </a:ext>
            </a:extLst>
          </p:cNvPr>
          <p:cNvSpPr>
            <a:spLocks noGrp="1"/>
          </p:cNvSpPr>
          <p:nvPr>
            <p:ph type="title"/>
          </p:nvPr>
        </p:nvSpPr>
        <p:spPr>
          <a:xfrm>
            <a:off x="521208" y="624114"/>
            <a:ext cx="11155680" cy="1045029"/>
          </a:xfrm>
        </p:spPr>
        <p:txBody>
          <a:bodyPr>
            <a:normAutofit fontScale="90000"/>
          </a:bodyPr>
          <a:lstStyle/>
          <a:p>
            <a:r>
              <a:rPr lang="en-US" sz="3200" dirty="0"/>
              <a:t>DO YOU THINK YOU CAN FIND SIMILAR ASSOCIATION RESULTS USING A REGRESSION MODEL?</a:t>
            </a:r>
            <a:endParaRPr lang="en-ZA" sz="3200" dirty="0"/>
          </a:p>
        </p:txBody>
      </p:sp>
      <p:pic>
        <p:nvPicPr>
          <p:cNvPr id="5" name="Content Placeholder 4" descr="A person sitting at a table&#10;&#10;AI-generated content may be incorrect.">
            <a:extLst>
              <a:ext uri="{FF2B5EF4-FFF2-40B4-BE49-F238E27FC236}">
                <a16:creationId xmlns:a16="http://schemas.microsoft.com/office/drawing/2014/main" id="{C288E257-7AB6-AE65-25B3-CCDED4D5677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19201" y="3018970"/>
            <a:ext cx="6552890" cy="3214915"/>
          </a:xfrm>
        </p:spPr>
      </p:pic>
      <p:sp>
        <p:nvSpPr>
          <p:cNvPr id="7" name="Speech Bubble: Oval 6">
            <a:extLst>
              <a:ext uri="{FF2B5EF4-FFF2-40B4-BE49-F238E27FC236}">
                <a16:creationId xmlns:a16="http://schemas.microsoft.com/office/drawing/2014/main" id="{D00A28CC-7DA0-6707-868F-9970DFE39949}"/>
              </a:ext>
            </a:extLst>
          </p:cNvPr>
          <p:cNvSpPr/>
          <p:nvPr/>
        </p:nvSpPr>
        <p:spPr>
          <a:xfrm rot="2435327">
            <a:off x="6850741" y="1647370"/>
            <a:ext cx="3447288" cy="2743200"/>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logistic regression model would be cool for this dataset .</a:t>
            </a:r>
            <a:endParaRPr lang="en-ZA" dirty="0"/>
          </a:p>
        </p:txBody>
      </p:sp>
    </p:spTree>
    <p:extLst>
      <p:ext uri="{BB962C8B-B14F-4D97-AF65-F5344CB8AC3E}">
        <p14:creationId xmlns:p14="http://schemas.microsoft.com/office/powerpoint/2010/main" val="2871050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015D-6FD1-5B34-198C-621F0407699C}"/>
              </a:ext>
            </a:extLst>
          </p:cNvPr>
          <p:cNvSpPr>
            <a:spLocks noGrp="1"/>
          </p:cNvSpPr>
          <p:nvPr>
            <p:ph type="title"/>
          </p:nvPr>
        </p:nvSpPr>
        <p:spPr>
          <a:xfrm>
            <a:off x="521208" y="667657"/>
            <a:ext cx="11155680" cy="870857"/>
          </a:xfrm>
        </p:spPr>
        <p:txBody>
          <a:bodyPr>
            <a:normAutofit/>
          </a:bodyPr>
          <a:lstStyle/>
          <a:p>
            <a:r>
              <a:rPr lang="en-US" dirty="0"/>
              <a:t>LOGISTIC REGRESSION MODEL </a:t>
            </a:r>
            <a:endParaRPr lang="en-ZA" dirty="0"/>
          </a:p>
        </p:txBody>
      </p:sp>
      <p:sp>
        <p:nvSpPr>
          <p:cNvPr id="3" name="Content Placeholder 2">
            <a:extLst>
              <a:ext uri="{FF2B5EF4-FFF2-40B4-BE49-F238E27FC236}">
                <a16:creationId xmlns:a16="http://schemas.microsoft.com/office/drawing/2014/main" id="{ED19A389-AED3-186F-DFFD-3B887CC2C915}"/>
              </a:ext>
            </a:extLst>
          </p:cNvPr>
          <p:cNvSpPr>
            <a:spLocks noGrp="1"/>
          </p:cNvSpPr>
          <p:nvPr>
            <p:ph idx="1"/>
          </p:nvPr>
        </p:nvSpPr>
        <p:spPr>
          <a:xfrm>
            <a:off x="304800" y="1538514"/>
            <a:ext cx="11372088" cy="4807422"/>
          </a:xfrm>
        </p:spPr>
        <p:txBody>
          <a:bodyPr/>
          <a:lstStyle/>
          <a:p>
            <a:r>
              <a:rPr lang="en-US" dirty="0"/>
              <a:t>The inclusion of “Age” and “Absences” could have an effect on our model when comparing the p-values to that of test of association but when comparing the significance of the variable we found that it is similar for both the model and the test of association. In the p-values there we some slight changes since the variables under the test of association </a:t>
            </a:r>
            <a:r>
              <a:rPr lang="en-US" b="1" dirty="0"/>
              <a:t>had </a:t>
            </a:r>
            <a:r>
              <a:rPr lang="en-US" b="1" dirty="0" err="1"/>
              <a:t>undjusted</a:t>
            </a:r>
            <a:r>
              <a:rPr lang="en-US" b="1" dirty="0"/>
              <a:t> p-values </a:t>
            </a:r>
            <a:r>
              <a:rPr lang="en-US" dirty="0"/>
              <a:t>unlike the logistic regression model. Remember a logistic regression </a:t>
            </a:r>
            <a:r>
              <a:rPr lang="en-US" b="1" dirty="0"/>
              <a:t>adjusts for all included variables simultaneously</a:t>
            </a:r>
            <a:r>
              <a:rPr lang="en-US" dirty="0"/>
              <a:t>, whereas a simple test of association usually looks at one variable at a time.</a:t>
            </a:r>
          </a:p>
          <a:p>
            <a:pPr marL="0" indent="0">
              <a:buNone/>
            </a:pPr>
            <a:endParaRPr lang="en-ZA" dirty="0"/>
          </a:p>
        </p:txBody>
      </p:sp>
      <p:pic>
        <p:nvPicPr>
          <p:cNvPr id="5" name="Picture 4" descr="A screenshot of a logistic procedure">
            <a:extLst>
              <a:ext uri="{FF2B5EF4-FFF2-40B4-BE49-F238E27FC236}">
                <a16:creationId xmlns:a16="http://schemas.microsoft.com/office/drawing/2014/main" id="{6C37176A-9EFA-71A4-9D56-436C91B1D5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12" y="3599543"/>
            <a:ext cx="3914650" cy="2960913"/>
          </a:xfrm>
          <a:prstGeom prst="rect">
            <a:avLst/>
          </a:prstGeom>
        </p:spPr>
      </p:pic>
      <p:pic>
        <p:nvPicPr>
          <p:cNvPr id="7" name="Picture 6" descr="A table with numbers and letters&#10;&#10;AI-generated content may be incorrect.">
            <a:extLst>
              <a:ext uri="{FF2B5EF4-FFF2-40B4-BE49-F238E27FC236}">
                <a16:creationId xmlns:a16="http://schemas.microsoft.com/office/drawing/2014/main" id="{FA17D0B0-0A8E-CAFA-02E7-513EE4A0C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0073" y="3599544"/>
            <a:ext cx="4126555" cy="2960912"/>
          </a:xfrm>
          <a:prstGeom prst="rect">
            <a:avLst/>
          </a:prstGeom>
        </p:spPr>
      </p:pic>
    </p:spTree>
    <p:extLst>
      <p:ext uri="{BB962C8B-B14F-4D97-AF65-F5344CB8AC3E}">
        <p14:creationId xmlns:p14="http://schemas.microsoft.com/office/powerpoint/2010/main" val="4222286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A330-2977-0D49-56D2-E2DB8FFC931A}"/>
              </a:ext>
            </a:extLst>
          </p:cNvPr>
          <p:cNvSpPr>
            <a:spLocks noGrp="1"/>
          </p:cNvSpPr>
          <p:nvPr>
            <p:ph type="title"/>
          </p:nvPr>
        </p:nvSpPr>
        <p:spPr>
          <a:xfrm>
            <a:off x="515112" y="624114"/>
            <a:ext cx="11161776" cy="812800"/>
          </a:xfrm>
        </p:spPr>
        <p:txBody>
          <a:bodyPr>
            <a:normAutofit/>
          </a:bodyPr>
          <a:lstStyle/>
          <a:p>
            <a:r>
              <a:rPr lang="en-US" dirty="0"/>
              <a:t>BEST FITTING MODEL</a:t>
            </a:r>
            <a:endParaRPr lang="en-ZA" dirty="0"/>
          </a:p>
        </p:txBody>
      </p:sp>
      <p:sp>
        <p:nvSpPr>
          <p:cNvPr id="3" name="Content Placeholder 2">
            <a:extLst>
              <a:ext uri="{FF2B5EF4-FFF2-40B4-BE49-F238E27FC236}">
                <a16:creationId xmlns:a16="http://schemas.microsoft.com/office/drawing/2014/main" id="{B8B7AB6F-68F3-6642-87CD-918A22EB7DA1}"/>
              </a:ext>
            </a:extLst>
          </p:cNvPr>
          <p:cNvSpPr>
            <a:spLocks noGrp="1"/>
          </p:cNvSpPr>
          <p:nvPr>
            <p:ph idx="1"/>
          </p:nvPr>
        </p:nvSpPr>
        <p:spPr>
          <a:xfrm>
            <a:off x="406400" y="1277257"/>
            <a:ext cx="11270488" cy="5068679"/>
          </a:xfrm>
        </p:spPr>
        <p:txBody>
          <a:bodyPr/>
          <a:lstStyle/>
          <a:p>
            <a:r>
              <a:rPr lang="en-US" dirty="0"/>
              <a:t>Now one thing we asked ourselves was would it be fair to have the previous regression model as our best-fitting model even though it has certain variables which has no significant association with our variable of interest. The answer was NO. Thus, since the p-values of “Age” , “</a:t>
            </a:r>
            <a:r>
              <a:rPr lang="en-US" dirty="0" err="1"/>
              <a:t>Pstatus</a:t>
            </a:r>
            <a:r>
              <a:rPr lang="en-US" dirty="0"/>
              <a:t>” and “</a:t>
            </a:r>
            <a:r>
              <a:rPr lang="en-US" dirty="0" err="1"/>
              <a:t>Farmsize</a:t>
            </a:r>
            <a:r>
              <a:rPr lang="en-US" dirty="0"/>
              <a:t>” has p-values greater than 0.05, the variables were removed from the model. We chose our best-fitting model based on the contribution of each predictor variable towards our variable of interest ”Final </a:t>
            </a:r>
            <a:r>
              <a:rPr lang="en-US" dirty="0" err="1"/>
              <a:t>grade”.In</a:t>
            </a:r>
            <a:r>
              <a:rPr lang="en-US" dirty="0"/>
              <a:t> our model there is no evidence of overdispersion since our Pearson Chi-Square ratio is 0,9945 which is almost 1.Thus, our p-values and std </a:t>
            </a:r>
            <a:r>
              <a:rPr lang="en-US" dirty="0" err="1"/>
              <a:t>erros</a:t>
            </a:r>
            <a:r>
              <a:rPr lang="en-US" dirty="0"/>
              <a:t> are very reliable.</a:t>
            </a:r>
          </a:p>
          <a:p>
            <a:endParaRPr lang="en-US" dirty="0"/>
          </a:p>
        </p:txBody>
      </p:sp>
      <p:pic>
        <p:nvPicPr>
          <p:cNvPr id="5" name="Picture 4" descr="A screenshot of a logistic model&#10;&#10;AI-generated content may be incorrect.">
            <a:extLst>
              <a:ext uri="{FF2B5EF4-FFF2-40B4-BE49-F238E27FC236}">
                <a16:creationId xmlns:a16="http://schemas.microsoft.com/office/drawing/2014/main" id="{A25C93C2-DAE4-2797-624F-B9AF84C0F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12" y="3429000"/>
            <a:ext cx="3515216" cy="334374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D5D3DCAC-84EB-B652-D631-76978335C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3242" y="3667159"/>
            <a:ext cx="4373444" cy="3105583"/>
          </a:xfrm>
          <a:prstGeom prst="rect">
            <a:avLst/>
          </a:prstGeom>
        </p:spPr>
      </p:pic>
    </p:spTree>
    <p:extLst>
      <p:ext uri="{BB962C8B-B14F-4D97-AF65-F5344CB8AC3E}">
        <p14:creationId xmlns:p14="http://schemas.microsoft.com/office/powerpoint/2010/main" val="3806556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C4E85-83B9-5FAA-FE06-F8BA8DB4C6A2}"/>
              </a:ext>
            </a:extLst>
          </p:cNvPr>
          <p:cNvSpPr>
            <a:spLocks noGrp="1"/>
          </p:cNvSpPr>
          <p:nvPr>
            <p:ph type="title"/>
          </p:nvPr>
        </p:nvSpPr>
        <p:spPr>
          <a:xfrm>
            <a:off x="515112" y="513344"/>
            <a:ext cx="11161776" cy="1928104"/>
          </a:xfrm>
        </p:spPr>
        <p:txBody>
          <a:bodyPr/>
          <a:lstStyle/>
          <a:p>
            <a:r>
              <a:rPr lang="en-US" dirty="0"/>
              <a:t>Accuracy of the model</a:t>
            </a:r>
            <a:endParaRPr lang="en-ZA" dirty="0"/>
          </a:p>
        </p:txBody>
      </p:sp>
      <p:pic>
        <p:nvPicPr>
          <p:cNvPr id="9" name="Content Placeholder 8" descr="A screenshot of a computer&#10;&#10;AI-generated content may be incorrect.">
            <a:extLst>
              <a:ext uri="{FF2B5EF4-FFF2-40B4-BE49-F238E27FC236}">
                <a16:creationId xmlns:a16="http://schemas.microsoft.com/office/drawing/2014/main" id="{01946B34-77EF-F7C2-F1DA-35F81ED4F8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76572" y="4416553"/>
            <a:ext cx="4779322" cy="2223717"/>
          </a:xfrm>
          <a:prstGeom prst="rect">
            <a:avLst/>
          </a:prstGeom>
        </p:spPr>
      </p:pic>
      <p:pic>
        <p:nvPicPr>
          <p:cNvPr id="5" name="Picture 4" descr="A group of people sitting on a bench&#10;&#10;AI-generated content may be incorrect.">
            <a:extLst>
              <a:ext uri="{FF2B5EF4-FFF2-40B4-BE49-F238E27FC236}">
                <a16:creationId xmlns:a16="http://schemas.microsoft.com/office/drawing/2014/main" id="{3108C4E5-41EF-A6CB-452C-B358046A8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112" y="2134096"/>
            <a:ext cx="4364970" cy="3556810"/>
          </a:xfrm>
          <a:prstGeom prst="rect">
            <a:avLst/>
          </a:prstGeom>
        </p:spPr>
      </p:pic>
      <p:sp>
        <p:nvSpPr>
          <p:cNvPr id="7" name="Thought Bubble: Cloud 6">
            <a:extLst>
              <a:ext uri="{FF2B5EF4-FFF2-40B4-BE49-F238E27FC236}">
                <a16:creationId xmlns:a16="http://schemas.microsoft.com/office/drawing/2014/main" id="{328D4742-E8B9-54E2-78CA-F9164E476762}"/>
              </a:ext>
            </a:extLst>
          </p:cNvPr>
          <p:cNvSpPr/>
          <p:nvPr/>
        </p:nvSpPr>
        <p:spPr>
          <a:xfrm rot="2691777">
            <a:off x="4441047" y="1988982"/>
            <a:ext cx="3309906" cy="159961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“When your model  finally runs without any errors”</a:t>
            </a:r>
            <a:endParaRPr lang="en-ZA" dirty="0"/>
          </a:p>
        </p:txBody>
      </p:sp>
      <p:sp>
        <p:nvSpPr>
          <p:cNvPr id="8" name="TextBox 7">
            <a:extLst>
              <a:ext uri="{FF2B5EF4-FFF2-40B4-BE49-F238E27FC236}">
                <a16:creationId xmlns:a16="http://schemas.microsoft.com/office/drawing/2014/main" id="{97013980-7CF3-6566-84FE-59B2AC06ED0A}"/>
              </a:ext>
            </a:extLst>
          </p:cNvPr>
          <p:cNvSpPr txBox="1"/>
          <p:nvPr/>
        </p:nvSpPr>
        <p:spPr>
          <a:xfrm>
            <a:off x="7721601" y="2264229"/>
            <a:ext cx="3338286" cy="1200329"/>
          </a:xfrm>
          <a:prstGeom prst="rect">
            <a:avLst/>
          </a:prstGeom>
          <a:noFill/>
        </p:spPr>
        <p:txBody>
          <a:bodyPr wrap="square" rtlCol="0">
            <a:spAutoFit/>
          </a:bodyPr>
          <a:lstStyle/>
          <a:p>
            <a:r>
              <a:rPr lang="en-US" b="1" dirty="0"/>
              <a:t>Our model has an acceptable predictive ability, can distinguish well between students who fail and pass</a:t>
            </a:r>
            <a:endParaRPr lang="en-ZA" b="1" dirty="0"/>
          </a:p>
        </p:txBody>
      </p:sp>
    </p:spTree>
    <p:extLst>
      <p:ext uri="{BB962C8B-B14F-4D97-AF65-F5344CB8AC3E}">
        <p14:creationId xmlns:p14="http://schemas.microsoft.com/office/powerpoint/2010/main" val="2000505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24B82-F15A-C551-7EE8-68C6A0A54181}"/>
              </a:ext>
            </a:extLst>
          </p:cNvPr>
          <p:cNvSpPr>
            <a:spLocks noGrp="1"/>
          </p:cNvSpPr>
          <p:nvPr>
            <p:ph type="title"/>
          </p:nvPr>
        </p:nvSpPr>
        <p:spPr>
          <a:xfrm>
            <a:off x="521208" y="682171"/>
            <a:ext cx="11155680" cy="537029"/>
          </a:xfrm>
        </p:spPr>
        <p:txBody>
          <a:bodyPr>
            <a:normAutofit fontScale="90000"/>
          </a:bodyPr>
          <a:lstStyle/>
          <a:p>
            <a:r>
              <a:rPr lang="en-US" sz="3600" dirty="0"/>
              <a:t>HOW DOES THE MODEL FIT ON THE DATA??</a:t>
            </a:r>
            <a:endParaRPr lang="en-ZA" sz="3600" dirty="0"/>
          </a:p>
        </p:txBody>
      </p:sp>
      <p:sp>
        <p:nvSpPr>
          <p:cNvPr id="3" name="Content Placeholder 2">
            <a:extLst>
              <a:ext uri="{FF2B5EF4-FFF2-40B4-BE49-F238E27FC236}">
                <a16:creationId xmlns:a16="http://schemas.microsoft.com/office/drawing/2014/main" id="{52C8E1A4-C0FB-F471-4C0D-33F62704606B}"/>
              </a:ext>
            </a:extLst>
          </p:cNvPr>
          <p:cNvSpPr>
            <a:spLocks noGrp="1"/>
          </p:cNvSpPr>
          <p:nvPr>
            <p:ph idx="1"/>
          </p:nvPr>
        </p:nvSpPr>
        <p:spPr>
          <a:xfrm>
            <a:off x="130630" y="1219200"/>
            <a:ext cx="11546258" cy="5126736"/>
          </a:xfrm>
        </p:spPr>
        <p:txBody>
          <a:bodyPr/>
          <a:lstStyle/>
          <a:p>
            <a:r>
              <a:rPr lang="en-US" dirty="0"/>
              <a:t>For the </a:t>
            </a:r>
            <a:r>
              <a:rPr lang="en-US" b="1" dirty="0"/>
              <a:t>Pearson residuals </a:t>
            </a:r>
            <a:r>
              <a:rPr lang="en-US" dirty="0"/>
              <a:t>: Most points fall between </a:t>
            </a:r>
            <a:r>
              <a:rPr lang="en-US" b="1" dirty="0"/>
              <a:t>-2 and 2 </a:t>
            </a:r>
            <a:r>
              <a:rPr lang="en-US" dirty="0"/>
              <a:t>, which means our observations are well fitted even though there are a few points outside this range.</a:t>
            </a:r>
          </a:p>
          <a:p>
            <a:r>
              <a:rPr lang="en-US" dirty="0"/>
              <a:t>For the </a:t>
            </a:r>
            <a:r>
              <a:rPr lang="en-US" b="1" dirty="0" err="1"/>
              <a:t>laverage</a:t>
            </a:r>
            <a:r>
              <a:rPr lang="en-US" b="1" dirty="0"/>
              <a:t> residual </a:t>
            </a:r>
            <a:r>
              <a:rPr lang="en-US" dirty="0"/>
              <a:t>: Most </a:t>
            </a:r>
            <a:r>
              <a:rPr lang="en-US" dirty="0" err="1"/>
              <a:t>laverage</a:t>
            </a:r>
            <a:r>
              <a:rPr lang="en-US" dirty="0"/>
              <a:t> point are less than </a:t>
            </a:r>
            <a:r>
              <a:rPr lang="en-US" b="1" dirty="0"/>
              <a:t>0.04 </a:t>
            </a:r>
            <a:r>
              <a:rPr lang="en-US" dirty="0"/>
              <a:t>which implies we have no serious high </a:t>
            </a:r>
            <a:r>
              <a:rPr lang="en-US" dirty="0" err="1"/>
              <a:t>laverage</a:t>
            </a:r>
            <a:r>
              <a:rPr lang="en-US" dirty="0"/>
              <a:t> issues. Thus , we can conclude that our </a:t>
            </a:r>
            <a:r>
              <a:rPr lang="en-US" b="1" dirty="0" err="1"/>
              <a:t>observations’s</a:t>
            </a:r>
            <a:r>
              <a:rPr lang="en-US" b="1" dirty="0"/>
              <a:t> predictor values </a:t>
            </a:r>
            <a:r>
              <a:rPr lang="en-US" dirty="0"/>
              <a:t>are NOT  very far from the mean.</a:t>
            </a:r>
          </a:p>
          <a:p>
            <a:endParaRPr lang="en-ZA" dirty="0"/>
          </a:p>
        </p:txBody>
      </p:sp>
      <p:pic>
        <p:nvPicPr>
          <p:cNvPr id="5" name="Picture 4" descr="A diagram of a number of red and blue dots&#10;&#10;AI-generated content may be incorrect.">
            <a:extLst>
              <a:ext uri="{FF2B5EF4-FFF2-40B4-BE49-F238E27FC236}">
                <a16:creationId xmlns:a16="http://schemas.microsoft.com/office/drawing/2014/main" id="{A31D9421-3B17-1E19-C663-790F2B0EA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287" y="3004458"/>
            <a:ext cx="6525112" cy="3585028"/>
          </a:xfrm>
          <a:prstGeom prst="rect">
            <a:avLst/>
          </a:prstGeom>
        </p:spPr>
      </p:pic>
      <p:pic>
        <p:nvPicPr>
          <p:cNvPr id="8" name="Picture 7" descr="A graph with red and blue dots&#10;&#10;AI-generated content may be incorrect.">
            <a:extLst>
              <a:ext uri="{FF2B5EF4-FFF2-40B4-BE49-F238E27FC236}">
                <a16:creationId xmlns:a16="http://schemas.microsoft.com/office/drawing/2014/main" id="{3E29FB86-0BBD-1F30-FE7C-9EEA2B25F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0720" y="3226380"/>
            <a:ext cx="4386167" cy="3382436"/>
          </a:xfrm>
          <a:prstGeom prst="rect">
            <a:avLst/>
          </a:prstGeom>
        </p:spPr>
      </p:pic>
    </p:spTree>
    <p:extLst>
      <p:ext uri="{BB962C8B-B14F-4D97-AF65-F5344CB8AC3E}">
        <p14:creationId xmlns:p14="http://schemas.microsoft.com/office/powerpoint/2010/main" val="334035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1" name="Rectangle 10">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7818F53-B471-AE2F-FCB4-BA450C071524}"/>
              </a:ext>
            </a:extLst>
          </p:cNvPr>
          <p:cNvSpPr txBox="1"/>
          <p:nvPr/>
        </p:nvSpPr>
        <p:spPr>
          <a:xfrm>
            <a:off x="517869" y="657369"/>
            <a:ext cx="6285267" cy="5688567"/>
          </a:xfrm>
          <a:prstGeom prst="rect">
            <a:avLst/>
          </a:prstGeom>
        </p:spPr>
        <p:txBody>
          <a:bodyPr vert="horz" lIns="91440" tIns="45720" rIns="91440" bIns="45720" rtlCol="0">
            <a:normAutofit/>
          </a:bodyPr>
          <a:lstStyle/>
          <a:p>
            <a:pPr indent="-228600">
              <a:spcAft>
                <a:spcPts val="600"/>
              </a:spcAft>
              <a:buFont typeface="Arial" panose="020B0604020202020204" pitchFamily="34" charset="0"/>
              <a:buChar char="•"/>
            </a:pPr>
            <a:r>
              <a:rPr lang="en-US" sz="900" dirty="0"/>
              <a:t>For DFBETAS :</a:t>
            </a:r>
          </a:p>
          <a:p>
            <a:pPr indent="-228600">
              <a:spcAft>
                <a:spcPts val="600"/>
              </a:spcAft>
              <a:buFont typeface="Arial" panose="020B0604020202020204" pitchFamily="34" charset="0"/>
              <a:buChar char="•"/>
            </a:pPr>
            <a:r>
              <a:rPr lang="en-US" sz="900" dirty="0"/>
              <a:t>       (</a:t>
            </a:r>
            <a:r>
              <a:rPr lang="en-US" sz="900" dirty="0" err="1"/>
              <a:t>i</a:t>
            </a:r>
            <a:r>
              <a:rPr lang="en-US" sz="900" dirty="0"/>
              <a:t>) </a:t>
            </a:r>
            <a:r>
              <a:rPr lang="en-US" sz="900" b="1" dirty="0"/>
              <a:t>Intercept</a:t>
            </a:r>
            <a:r>
              <a:rPr lang="en-US" sz="900" dirty="0"/>
              <a:t> : Most points are clustered around 0 suggesting no case affects the </a:t>
            </a:r>
            <a:r>
              <a:rPr lang="en-US" sz="900" dirty="0" err="1"/>
              <a:t>intercept.The</a:t>
            </a:r>
            <a:r>
              <a:rPr lang="en-US" sz="900" dirty="0"/>
              <a:t> overall influence      </a:t>
            </a:r>
          </a:p>
          <a:p>
            <a:pPr indent="-228600">
              <a:spcAft>
                <a:spcPts val="600"/>
              </a:spcAft>
              <a:buFont typeface="Arial" panose="020B0604020202020204" pitchFamily="34" charset="0"/>
              <a:buChar char="•"/>
            </a:pPr>
            <a:r>
              <a:rPr lang="en-US" sz="900" dirty="0"/>
              <a:t>           seems decent.</a:t>
            </a:r>
          </a:p>
          <a:p>
            <a:pPr indent="-228600">
              <a:spcAft>
                <a:spcPts val="600"/>
              </a:spcAft>
              <a:buFont typeface="Arial" panose="020B0604020202020204" pitchFamily="34" charset="0"/>
              <a:buChar char="•"/>
            </a:pPr>
            <a:r>
              <a:rPr lang="en-US" sz="900" dirty="0"/>
              <a:t>      (ii) </a:t>
            </a:r>
            <a:r>
              <a:rPr lang="en-US" sz="900" b="1" dirty="0" err="1"/>
              <a:t>GenderF</a:t>
            </a:r>
            <a:r>
              <a:rPr lang="en-US" sz="900" dirty="0"/>
              <a:t> : Most points are symmetrical around 0 , meaning there are no outliers. So that tells us that no student  </a:t>
            </a:r>
          </a:p>
          <a:p>
            <a:pPr indent="-228600">
              <a:spcAft>
                <a:spcPts val="600"/>
              </a:spcAft>
              <a:buFont typeface="Arial" panose="020B0604020202020204" pitchFamily="34" charset="0"/>
              <a:buChar char="•"/>
            </a:pPr>
            <a:r>
              <a:rPr lang="en-US" sz="900" dirty="0"/>
              <a:t>            was driving the effect of Gender.</a:t>
            </a:r>
          </a:p>
          <a:p>
            <a:pPr indent="-228600">
              <a:spcAft>
                <a:spcPts val="600"/>
              </a:spcAft>
              <a:buFont typeface="Arial" panose="020B0604020202020204" pitchFamily="34" charset="0"/>
              <a:buChar char="•"/>
            </a:pPr>
            <a:r>
              <a:rPr lang="en-US" sz="900" dirty="0"/>
              <a:t>      (iii) </a:t>
            </a:r>
            <a:r>
              <a:rPr lang="en-US" sz="900" b="1" dirty="0" err="1"/>
              <a:t>AddressRural</a:t>
            </a:r>
            <a:r>
              <a:rPr lang="en-US" sz="900" dirty="0"/>
              <a:t> : A few points are around -1 and 1 indicating slightly higher influence </a:t>
            </a:r>
            <a:r>
              <a:rPr lang="en-US" sz="900" dirty="0" err="1"/>
              <a:t>thusbeing</a:t>
            </a:r>
            <a:r>
              <a:rPr lang="en-US" sz="900" dirty="0"/>
              <a:t> from urban/rural</a:t>
            </a:r>
          </a:p>
          <a:p>
            <a:pPr indent="-228600">
              <a:spcAft>
                <a:spcPts val="600"/>
              </a:spcAft>
              <a:buFont typeface="Arial" panose="020B0604020202020204" pitchFamily="34" charset="0"/>
              <a:buChar char="•"/>
            </a:pPr>
            <a:r>
              <a:rPr lang="en-US" sz="900" dirty="0"/>
              <a:t>             has a noticeable effect.</a:t>
            </a:r>
          </a:p>
          <a:p>
            <a:pPr indent="-228600">
              <a:spcAft>
                <a:spcPts val="600"/>
              </a:spcAft>
              <a:buFont typeface="Arial" panose="020B0604020202020204" pitchFamily="34" charset="0"/>
              <a:buChar char="•"/>
            </a:pPr>
            <a:r>
              <a:rPr lang="en-US" sz="900" dirty="0"/>
              <a:t>      (iv) </a:t>
            </a:r>
            <a:r>
              <a:rPr lang="en-US" sz="900" b="1" dirty="0" err="1"/>
              <a:t>HigherNo</a:t>
            </a:r>
            <a:r>
              <a:rPr lang="en-US" sz="900" dirty="0"/>
              <a:t> : We have 17 points below -0.1 , indicating students who don’t want to go to tertiary have stronger</a:t>
            </a:r>
          </a:p>
          <a:p>
            <a:pPr indent="-228600">
              <a:spcAft>
                <a:spcPts val="600"/>
              </a:spcAft>
              <a:buFont typeface="Arial" panose="020B0604020202020204" pitchFamily="34" charset="0"/>
              <a:buChar char="•"/>
            </a:pPr>
            <a:r>
              <a:rPr lang="en-US" sz="900" dirty="0"/>
              <a:t>            </a:t>
            </a:r>
            <a:r>
              <a:rPr lang="en-US" sz="900" dirty="0" err="1"/>
              <a:t>influence.This</a:t>
            </a:r>
            <a:r>
              <a:rPr lang="en-US" sz="900" dirty="0"/>
              <a:t> variable shows more influence than the others.</a:t>
            </a:r>
          </a:p>
          <a:p>
            <a:pPr indent="-228600">
              <a:spcAft>
                <a:spcPts val="600"/>
              </a:spcAft>
              <a:buFont typeface="Arial" panose="020B0604020202020204" pitchFamily="34" charset="0"/>
              <a:buChar char="•"/>
            </a:pPr>
            <a:r>
              <a:rPr lang="en-US" sz="900" dirty="0"/>
              <a:t>      (v) </a:t>
            </a:r>
            <a:r>
              <a:rPr lang="en-US" sz="900" b="1" dirty="0" err="1"/>
              <a:t>InternetNo</a:t>
            </a:r>
            <a:r>
              <a:rPr lang="en-US" sz="900" dirty="0"/>
              <a:t> : Most points are </a:t>
            </a:r>
            <a:r>
              <a:rPr lang="en-US" sz="900" dirty="0" err="1"/>
              <a:t>centred</a:t>
            </a:r>
            <a:r>
              <a:rPr lang="en-US" sz="900" dirty="0"/>
              <a:t> around 0, indicating minimal influence by individual </a:t>
            </a:r>
            <a:r>
              <a:rPr lang="en-US" sz="900" dirty="0" err="1"/>
              <a:t>observation.A</a:t>
            </a:r>
            <a:r>
              <a:rPr lang="en-US" sz="900" dirty="0"/>
              <a:t> few</a:t>
            </a:r>
          </a:p>
          <a:p>
            <a:pPr indent="-228600">
              <a:spcAft>
                <a:spcPts val="600"/>
              </a:spcAft>
              <a:buFont typeface="Arial" panose="020B0604020202020204" pitchFamily="34" charset="0"/>
              <a:buChar char="•"/>
            </a:pPr>
            <a:r>
              <a:rPr lang="en-US" sz="900" dirty="0"/>
              <a:t>           points exceed -0.1 and 0.1 also suggesting limited influence by internet connection on final grade.</a:t>
            </a:r>
          </a:p>
          <a:p>
            <a:pPr indent="-228600">
              <a:spcAft>
                <a:spcPts val="600"/>
              </a:spcAft>
              <a:buFont typeface="Arial" panose="020B0604020202020204" pitchFamily="34" charset="0"/>
              <a:buChar char="•"/>
            </a:pPr>
            <a:r>
              <a:rPr lang="en-US" sz="900" dirty="0"/>
              <a:t>     (vi) </a:t>
            </a:r>
            <a:r>
              <a:rPr lang="en-US" sz="900" b="1" dirty="0"/>
              <a:t>Absences</a:t>
            </a:r>
            <a:r>
              <a:rPr lang="en-US" sz="900" dirty="0"/>
              <a:t> : The points are </a:t>
            </a:r>
            <a:r>
              <a:rPr lang="en-US" sz="900" dirty="0" err="1"/>
              <a:t>centred</a:t>
            </a:r>
            <a:r>
              <a:rPr lang="en-US" sz="900" dirty="0"/>
              <a:t> around 0 , showing low influence for most cases. There are a few points with</a:t>
            </a:r>
          </a:p>
          <a:p>
            <a:pPr indent="-228600">
              <a:spcAft>
                <a:spcPts val="600"/>
              </a:spcAft>
              <a:buFont typeface="Arial" panose="020B0604020202020204" pitchFamily="34" charset="0"/>
              <a:buChar char="•"/>
            </a:pPr>
            <a:r>
              <a:rPr lang="en-US" sz="900" dirty="0"/>
              <a:t>        strong influence, indicating a small number of students are affected by being absent, but the model remain strong.</a:t>
            </a:r>
          </a:p>
        </p:txBody>
      </p:sp>
      <p:pic>
        <p:nvPicPr>
          <p:cNvPr id="4" name="Picture 3" descr="A group of red and blue dots&#10;&#10;AI-generated content may be incorrect.">
            <a:extLst>
              <a:ext uri="{FF2B5EF4-FFF2-40B4-BE49-F238E27FC236}">
                <a16:creationId xmlns:a16="http://schemas.microsoft.com/office/drawing/2014/main" id="{97128E90-6E33-CDC0-41A8-8D16EE13E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5645" y="582729"/>
            <a:ext cx="4951181" cy="4522163"/>
          </a:xfrm>
          <a:prstGeom prst="rect">
            <a:avLst/>
          </a:prstGeom>
        </p:spPr>
      </p:pic>
      <p:pic>
        <p:nvPicPr>
          <p:cNvPr id="6" name="Picture 5" descr="A graph showing the number of numbers and the number of numbers&#10;&#10;AI-generated content may be incorrect.">
            <a:extLst>
              <a:ext uri="{FF2B5EF4-FFF2-40B4-BE49-F238E27FC236}">
                <a16:creationId xmlns:a16="http://schemas.microsoft.com/office/drawing/2014/main" id="{C1372FC4-3D7A-CABB-8165-41A29F0AC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130" y="3715658"/>
            <a:ext cx="6285266" cy="2630278"/>
          </a:xfrm>
          <a:prstGeom prst="rect">
            <a:avLst/>
          </a:prstGeom>
        </p:spPr>
      </p:pic>
    </p:spTree>
    <p:extLst>
      <p:ext uri="{BB962C8B-B14F-4D97-AF65-F5344CB8AC3E}">
        <p14:creationId xmlns:p14="http://schemas.microsoft.com/office/powerpoint/2010/main" val="1476293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in a suit and glasses&#10;&#10;AI-generated content may be incorrect.">
            <a:extLst>
              <a:ext uri="{FF2B5EF4-FFF2-40B4-BE49-F238E27FC236}">
                <a16:creationId xmlns:a16="http://schemas.microsoft.com/office/drawing/2014/main" id="{8D9CADE2-1DEE-CC99-3FED-63C250B2E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70" y="2017486"/>
            <a:ext cx="6078836" cy="4238171"/>
          </a:xfrm>
          <a:prstGeom prst="rect">
            <a:avLst/>
          </a:prstGeom>
        </p:spPr>
      </p:pic>
      <p:sp>
        <p:nvSpPr>
          <p:cNvPr id="4" name="Speech Bubble: Oval 3">
            <a:extLst>
              <a:ext uri="{FF2B5EF4-FFF2-40B4-BE49-F238E27FC236}">
                <a16:creationId xmlns:a16="http://schemas.microsoft.com/office/drawing/2014/main" id="{3FD5EDC6-ADEB-6423-E95E-E4CE386D0F71}"/>
              </a:ext>
            </a:extLst>
          </p:cNvPr>
          <p:cNvSpPr/>
          <p:nvPr/>
        </p:nvSpPr>
        <p:spPr>
          <a:xfrm rot="1612560">
            <a:off x="5834743" y="486229"/>
            <a:ext cx="3454400" cy="2078591"/>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“Without data, you’re just another person with an opinion.”</a:t>
            </a:r>
            <a:endParaRPr lang="en-ZA" dirty="0"/>
          </a:p>
        </p:txBody>
      </p:sp>
      <p:sp>
        <p:nvSpPr>
          <p:cNvPr id="5" name="TextBox 4">
            <a:extLst>
              <a:ext uri="{FF2B5EF4-FFF2-40B4-BE49-F238E27FC236}">
                <a16:creationId xmlns:a16="http://schemas.microsoft.com/office/drawing/2014/main" id="{B04BDE27-7084-2E93-C47F-394F3D7249B7}"/>
              </a:ext>
            </a:extLst>
          </p:cNvPr>
          <p:cNvSpPr txBox="1"/>
          <p:nvPr/>
        </p:nvSpPr>
        <p:spPr>
          <a:xfrm>
            <a:off x="682172" y="6255657"/>
            <a:ext cx="3889828" cy="400110"/>
          </a:xfrm>
          <a:prstGeom prst="rect">
            <a:avLst/>
          </a:prstGeom>
          <a:noFill/>
        </p:spPr>
        <p:txBody>
          <a:bodyPr wrap="square" rtlCol="0">
            <a:spAutoFit/>
          </a:bodyPr>
          <a:lstStyle/>
          <a:p>
            <a:r>
              <a:rPr lang="en-ZA" sz="2000" b="1" dirty="0"/>
              <a:t>W. Edwards Deming</a:t>
            </a:r>
          </a:p>
        </p:txBody>
      </p:sp>
    </p:spTree>
    <p:extLst>
      <p:ext uri="{BB962C8B-B14F-4D97-AF65-F5344CB8AC3E}">
        <p14:creationId xmlns:p14="http://schemas.microsoft.com/office/powerpoint/2010/main" val="85633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4FCD4-957B-97FC-E7D7-17152A1FBD1E}"/>
              </a:ext>
            </a:extLst>
          </p:cNvPr>
          <p:cNvSpPr>
            <a:spLocks noGrp="1"/>
          </p:cNvSpPr>
          <p:nvPr>
            <p:ph type="title"/>
          </p:nvPr>
        </p:nvSpPr>
        <p:spPr>
          <a:xfrm>
            <a:off x="521208" y="711200"/>
            <a:ext cx="11155680" cy="928914"/>
          </a:xfrm>
        </p:spPr>
        <p:txBody>
          <a:bodyPr>
            <a:normAutofit fontScale="90000"/>
          </a:bodyPr>
          <a:lstStyle/>
          <a:p>
            <a:r>
              <a:rPr lang="en-US" sz="2800" dirty="0"/>
              <a:t>Factors that significantly contribute to a higher likelihood of the event of interest occurring. </a:t>
            </a:r>
            <a:endParaRPr lang="en-ZA" dirty="0"/>
          </a:p>
        </p:txBody>
      </p:sp>
      <p:sp>
        <p:nvSpPr>
          <p:cNvPr id="3" name="Content Placeholder 2">
            <a:extLst>
              <a:ext uri="{FF2B5EF4-FFF2-40B4-BE49-F238E27FC236}">
                <a16:creationId xmlns:a16="http://schemas.microsoft.com/office/drawing/2014/main" id="{67944BB6-A64F-9A0D-6EC4-A6318F13BDED}"/>
              </a:ext>
            </a:extLst>
          </p:cNvPr>
          <p:cNvSpPr>
            <a:spLocks noGrp="1"/>
          </p:cNvSpPr>
          <p:nvPr>
            <p:ph idx="1"/>
          </p:nvPr>
        </p:nvSpPr>
        <p:spPr>
          <a:xfrm>
            <a:off x="515112" y="1640114"/>
            <a:ext cx="11161776" cy="4705822"/>
          </a:xfrm>
        </p:spPr>
        <p:txBody>
          <a:bodyPr/>
          <a:lstStyle/>
          <a:p>
            <a:r>
              <a:rPr lang="en-US" b="1" dirty="0"/>
              <a:t>Gender</a:t>
            </a:r>
            <a:r>
              <a:rPr lang="en-US" dirty="0"/>
              <a:t> : OR=0/643&lt; 1 and CI=(0.446, 0.929) does not include. Therefore, females are </a:t>
            </a:r>
            <a:r>
              <a:rPr lang="en-US" b="1" dirty="0"/>
              <a:t>significantly </a:t>
            </a:r>
            <a:r>
              <a:rPr lang="en-US" dirty="0"/>
              <a:t>less likely to fail compared to males. Gender </a:t>
            </a:r>
            <a:r>
              <a:rPr lang="en-US" b="1" dirty="0"/>
              <a:t>significantly decreases </a:t>
            </a:r>
            <a:r>
              <a:rPr lang="en-US" dirty="0"/>
              <a:t>likelihood.</a:t>
            </a:r>
          </a:p>
          <a:p>
            <a:r>
              <a:rPr lang="en-US" b="1" dirty="0"/>
              <a:t>Address </a:t>
            </a:r>
            <a:r>
              <a:rPr lang="en-US" dirty="0"/>
              <a:t>: </a:t>
            </a:r>
            <a:r>
              <a:rPr lang="en-US"/>
              <a:t>OR=1,875 </a:t>
            </a:r>
            <a:r>
              <a:rPr lang="en-US" dirty="0"/>
              <a:t>&gt;1 and CI=(1.273</a:t>
            </a:r>
            <a:r>
              <a:rPr lang="en-US"/>
              <a:t>,  2.764) </a:t>
            </a:r>
            <a:r>
              <a:rPr lang="en-US" dirty="0"/>
              <a:t>does not include 1. Individuals living in rural areas are </a:t>
            </a:r>
            <a:r>
              <a:rPr lang="en-US" b="1" dirty="0"/>
              <a:t>significantly </a:t>
            </a:r>
            <a:r>
              <a:rPr lang="en-US" dirty="0"/>
              <a:t>more likely to fail. Address </a:t>
            </a:r>
            <a:r>
              <a:rPr lang="en-US" b="1" dirty="0"/>
              <a:t>significantly increases </a:t>
            </a:r>
            <a:r>
              <a:rPr lang="en-US" dirty="0"/>
              <a:t>likelihood.</a:t>
            </a:r>
          </a:p>
          <a:p>
            <a:r>
              <a:rPr lang="en-US" b="1" dirty="0"/>
              <a:t>Higher </a:t>
            </a:r>
            <a:r>
              <a:rPr lang="en-US" dirty="0"/>
              <a:t>: OR=7,776&gt;1 and CI=(4.31, 14.029) DOES NOT CONTAIN 1. This suggest strong and significant effect. Students without higher education ambitions are more likely to fail. Higher </a:t>
            </a:r>
            <a:r>
              <a:rPr lang="en-US" b="1" dirty="0"/>
              <a:t>significantly increases  </a:t>
            </a:r>
            <a:r>
              <a:rPr lang="en-US" dirty="0"/>
              <a:t>likelihood. </a:t>
            </a:r>
            <a:endParaRPr lang="en-US" b="1" dirty="0"/>
          </a:p>
          <a:p>
            <a:endParaRPr lang="en-ZA" b="1" dirty="0"/>
          </a:p>
        </p:txBody>
      </p:sp>
      <p:pic>
        <p:nvPicPr>
          <p:cNvPr id="5" name="Picture 4" descr="A table with numbers and text&#10;&#10;AI-generated content may be incorrect.">
            <a:extLst>
              <a:ext uri="{FF2B5EF4-FFF2-40B4-BE49-F238E27FC236}">
                <a16:creationId xmlns:a16="http://schemas.microsoft.com/office/drawing/2014/main" id="{9DF79576-398F-4752-7ACD-67984FA4D6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344" y="4132387"/>
            <a:ext cx="4772065" cy="2213549"/>
          </a:xfrm>
          <a:prstGeom prst="rect">
            <a:avLst/>
          </a:prstGeom>
        </p:spPr>
      </p:pic>
    </p:spTree>
    <p:extLst>
      <p:ext uri="{BB962C8B-B14F-4D97-AF65-F5344CB8AC3E}">
        <p14:creationId xmlns:p14="http://schemas.microsoft.com/office/powerpoint/2010/main" val="2688537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giving a high five to another person&#10;&#10;AI-generated content may be incorrect.">
            <a:extLst>
              <a:ext uri="{FF2B5EF4-FFF2-40B4-BE49-F238E27FC236}">
                <a16:creationId xmlns:a16="http://schemas.microsoft.com/office/drawing/2014/main" id="{F84ECB3D-2233-1A77-E240-AEEFBE4862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2154993"/>
            <a:ext cx="6607774" cy="3984550"/>
          </a:xfrm>
          <a:prstGeom prst="rect">
            <a:avLst/>
          </a:prstGeom>
        </p:spPr>
      </p:pic>
      <p:sp>
        <p:nvSpPr>
          <p:cNvPr id="4" name="TextBox 3">
            <a:extLst>
              <a:ext uri="{FF2B5EF4-FFF2-40B4-BE49-F238E27FC236}">
                <a16:creationId xmlns:a16="http://schemas.microsoft.com/office/drawing/2014/main" id="{EC793627-A908-12A1-3414-B5D63DDAA83F}"/>
              </a:ext>
            </a:extLst>
          </p:cNvPr>
          <p:cNvSpPr txBox="1"/>
          <p:nvPr/>
        </p:nvSpPr>
        <p:spPr>
          <a:xfrm>
            <a:off x="406401" y="218496"/>
            <a:ext cx="5167085" cy="461665"/>
          </a:xfrm>
          <a:prstGeom prst="rect">
            <a:avLst/>
          </a:prstGeom>
          <a:noFill/>
        </p:spPr>
        <p:txBody>
          <a:bodyPr wrap="square" rtlCol="0">
            <a:spAutoFit/>
          </a:bodyPr>
          <a:lstStyle/>
          <a:p>
            <a:r>
              <a:rPr lang="en-US" sz="2400" dirty="0"/>
              <a:t>POV : When you remember   </a:t>
            </a:r>
            <a:endParaRPr lang="en-ZA" sz="2400" dirty="0"/>
          </a:p>
        </p:txBody>
      </p:sp>
      <p:sp>
        <p:nvSpPr>
          <p:cNvPr id="5" name="TextBox 4">
            <a:extLst>
              <a:ext uri="{FF2B5EF4-FFF2-40B4-BE49-F238E27FC236}">
                <a16:creationId xmlns:a16="http://schemas.microsoft.com/office/drawing/2014/main" id="{D245F8D1-D487-1B99-6685-55D22604B3EE}"/>
              </a:ext>
            </a:extLst>
          </p:cNvPr>
          <p:cNvSpPr txBox="1"/>
          <p:nvPr/>
        </p:nvSpPr>
        <p:spPr>
          <a:xfrm>
            <a:off x="7217374" y="2931886"/>
            <a:ext cx="4553710" cy="954107"/>
          </a:xfrm>
          <a:prstGeom prst="rect">
            <a:avLst/>
          </a:prstGeom>
          <a:noFill/>
        </p:spPr>
        <p:txBody>
          <a:bodyPr wrap="square" rtlCol="0">
            <a:spAutoFit/>
          </a:bodyPr>
          <a:lstStyle/>
          <a:p>
            <a:r>
              <a:rPr lang="en-US" sz="2800" b="1" dirty="0"/>
              <a:t>“ odds &gt; 1 — students have a fighting chance!”</a:t>
            </a:r>
            <a:endParaRPr lang="en-ZA" sz="2800" b="1" dirty="0"/>
          </a:p>
        </p:txBody>
      </p:sp>
    </p:spTree>
    <p:extLst>
      <p:ext uri="{BB962C8B-B14F-4D97-AF65-F5344CB8AC3E}">
        <p14:creationId xmlns:p14="http://schemas.microsoft.com/office/powerpoint/2010/main" val="2469929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670CB-7D1F-C26F-E0A5-E571EC14DB0F}"/>
              </a:ext>
            </a:extLst>
          </p:cNvPr>
          <p:cNvSpPr>
            <a:spLocks noGrp="1"/>
          </p:cNvSpPr>
          <p:nvPr>
            <p:ph type="title"/>
          </p:nvPr>
        </p:nvSpPr>
        <p:spPr/>
        <p:txBody>
          <a:bodyPr/>
          <a:lstStyle/>
          <a:p>
            <a:r>
              <a:rPr lang="en-US" dirty="0"/>
              <a:t>PREDICTING FOR THE FIRST 3 STUDENTS</a:t>
            </a:r>
            <a:endParaRPr lang="en-ZA" dirty="0"/>
          </a:p>
        </p:txBody>
      </p:sp>
      <p:pic>
        <p:nvPicPr>
          <p:cNvPr id="5" name="Content Placeholder 4" descr="A screenshot of a computer&#10;&#10;AI-generated content may be incorrect.">
            <a:extLst>
              <a:ext uri="{FF2B5EF4-FFF2-40B4-BE49-F238E27FC236}">
                <a16:creationId xmlns:a16="http://schemas.microsoft.com/office/drawing/2014/main" id="{0A4AF0C0-5BBC-3571-96D0-F8F7EDF40D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757" y="2038156"/>
            <a:ext cx="6230219" cy="2781688"/>
          </a:xfrm>
        </p:spPr>
      </p:pic>
      <p:pic>
        <p:nvPicPr>
          <p:cNvPr id="7" name="Picture 6" descr="A screenshot of a computer screen&#10;&#10;AI-generated content may be incorrect.">
            <a:extLst>
              <a:ext uri="{FF2B5EF4-FFF2-40B4-BE49-F238E27FC236}">
                <a16:creationId xmlns:a16="http://schemas.microsoft.com/office/drawing/2014/main" id="{AD35A2ED-F372-67B9-9B9D-96FA4ED883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1427" y="2038156"/>
            <a:ext cx="5241486" cy="1784336"/>
          </a:xfrm>
          <a:prstGeom prst="rect">
            <a:avLst/>
          </a:prstGeom>
        </p:spPr>
      </p:pic>
    </p:spTree>
    <p:extLst>
      <p:ext uri="{BB962C8B-B14F-4D97-AF65-F5344CB8AC3E}">
        <p14:creationId xmlns:p14="http://schemas.microsoft.com/office/powerpoint/2010/main" val="3226210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forming words">
            <a:extLst>
              <a:ext uri="{FF2B5EF4-FFF2-40B4-BE49-F238E27FC236}">
                <a16:creationId xmlns:a16="http://schemas.microsoft.com/office/drawing/2014/main" id="{7087AE9B-D3C3-2E76-8E9E-D5928BC0D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1197652" cy="6041036"/>
          </a:xfrm>
          <a:prstGeom prst="rect">
            <a:avLst/>
          </a:prstGeom>
        </p:spPr>
      </p:pic>
      <p:sp>
        <p:nvSpPr>
          <p:cNvPr id="6" name="TextBox 5">
            <a:extLst>
              <a:ext uri="{FF2B5EF4-FFF2-40B4-BE49-F238E27FC236}">
                <a16:creationId xmlns:a16="http://schemas.microsoft.com/office/drawing/2014/main" id="{ECEFA726-17F2-DB60-7F04-BAE513D44615}"/>
              </a:ext>
            </a:extLst>
          </p:cNvPr>
          <p:cNvSpPr txBox="1"/>
          <p:nvPr/>
        </p:nvSpPr>
        <p:spPr>
          <a:xfrm>
            <a:off x="994348" y="6190939"/>
            <a:ext cx="3232878" cy="523220"/>
          </a:xfrm>
          <a:prstGeom prst="rect">
            <a:avLst/>
          </a:prstGeom>
          <a:noFill/>
        </p:spPr>
        <p:txBody>
          <a:bodyPr wrap="square" rtlCol="0">
            <a:spAutoFit/>
          </a:bodyPr>
          <a:lstStyle/>
          <a:p>
            <a:r>
              <a:rPr lang="en-US" sz="2800" b="1" dirty="0"/>
              <a:t>FROM GROUP F</a:t>
            </a:r>
            <a:endParaRPr lang="en-ZA" sz="2800" b="1" dirty="0"/>
          </a:p>
        </p:txBody>
      </p:sp>
    </p:spTree>
    <p:extLst>
      <p:ext uri="{BB962C8B-B14F-4D97-AF65-F5344CB8AC3E}">
        <p14:creationId xmlns:p14="http://schemas.microsoft.com/office/powerpoint/2010/main" val="72570860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582</TotalTime>
  <Words>1747</Words>
  <Application>Microsoft Office PowerPoint</Application>
  <PresentationFormat>Widescreen</PresentationFormat>
  <Paragraphs>153</Paragraphs>
  <Slides>20</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20</vt:i4>
      </vt:variant>
      <vt:variant>
        <vt:lpstr>Custom Shows</vt:lpstr>
      </vt:variant>
      <vt:variant>
        <vt:i4>1</vt:i4>
      </vt:variant>
    </vt:vector>
  </HeadingPairs>
  <TitlesOfParts>
    <vt:vector size="25" baseType="lpstr">
      <vt:lpstr>Aptos</vt:lpstr>
      <vt:lpstr>Arial</vt:lpstr>
      <vt:lpstr>Bierstadt</vt:lpstr>
      <vt:lpstr>GestaltVTI</vt:lpstr>
      <vt:lpstr>SAS Meets the Classroom</vt:lpstr>
      <vt:lpstr>“Students have always been trying to pass. We just have more variables now.”</vt:lpstr>
      <vt:lpstr>Understanding the student performance dataset</vt:lpstr>
      <vt:lpstr>Identifying relevant categorical variables</vt:lpstr>
      <vt:lpstr>“Statistics: Turning confusion into tables since the 1800s.”</vt:lpstr>
      <vt:lpstr>Two-way test of association for each of the relevant categorical explanatory variables and the response of interest.</vt:lpstr>
      <vt:lpstr>PowerPoint Presentation</vt:lpstr>
      <vt:lpstr>PowerPoint Presentation</vt:lpstr>
      <vt:lpstr>PowerPoint Presentation</vt:lpstr>
      <vt:lpstr>DO YOU THINK YOU CAN FIND SIMILAR ASSOCIATION RESULTS USING A REGRESSION MODEL?</vt:lpstr>
      <vt:lpstr>LOGISTIC REGRESSION MODEL </vt:lpstr>
      <vt:lpstr>BEST FITTING MODEL</vt:lpstr>
      <vt:lpstr>Accuracy of the model</vt:lpstr>
      <vt:lpstr>HOW DOES THE MODEL FIT ON THE DATA??</vt:lpstr>
      <vt:lpstr>PowerPoint Presentation</vt:lpstr>
      <vt:lpstr>PowerPoint Presentation</vt:lpstr>
      <vt:lpstr>Factors that significantly contribute to a higher likelihood of the event of interest occurring. </vt:lpstr>
      <vt:lpstr>PowerPoint Presentation</vt:lpstr>
      <vt:lpstr>PREDICTING FOR THE FIRST 3 STUDENTS</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Asanda Ndlela (222065405)</dc:creator>
  <cp:lastModifiedBy>Asanda Ndlela (222065405)</cp:lastModifiedBy>
  <cp:revision>1</cp:revision>
  <dcterms:created xsi:type="dcterms:W3CDTF">2025-10-25T06:59:01Z</dcterms:created>
  <dcterms:modified xsi:type="dcterms:W3CDTF">2025-11-16T11:21:25Z</dcterms:modified>
</cp:coreProperties>
</file>